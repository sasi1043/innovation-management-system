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sldIdLst>
    <p:sldId id="256" r:id="rId2"/>
    <p:sldId id="265" r:id="rId3"/>
    <p:sldId id="269" r:id="rId4"/>
    <p:sldId id="257" r:id="rId5"/>
    <p:sldId id="258" r:id="rId6"/>
    <p:sldId id="260" r:id="rId7"/>
    <p:sldId id="259" r:id="rId8"/>
    <p:sldId id="266" r:id="rId9"/>
    <p:sldId id="268" r:id="rId10"/>
    <p:sldId id="264" r:id="rId11"/>
    <p:sldId id="270" r:id="rId12"/>
    <p:sldId id="271"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85F8D3-7EE0-4637-B8C0-AD8CC4885337}"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1584560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D85F8D3-7EE0-4637-B8C0-AD8CC4885337}"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4259931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5F8D3-7EE0-4637-B8C0-AD8CC4885337}"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141572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85F8D3-7EE0-4637-B8C0-AD8CC4885337}"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4175258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85F8D3-7EE0-4637-B8C0-AD8CC4885337}" type="datetimeFigureOut">
              <a:rPr lang="en-IN" smtClean="0"/>
              <a:t>14-02-2026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995271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D85F8D3-7EE0-4637-B8C0-AD8CC4885337}" type="datetimeFigureOut">
              <a:rPr lang="en-IN" smtClean="0"/>
              <a:t>14-02-2026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3238981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D85F8D3-7EE0-4637-B8C0-AD8CC4885337}" type="datetimeFigureOut">
              <a:rPr lang="en-IN" smtClean="0"/>
              <a:t>14-02-2026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1063912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D85F8D3-7EE0-4637-B8C0-AD8CC4885337}" type="datetimeFigureOut">
              <a:rPr lang="en-IN" smtClean="0"/>
              <a:t>14-02-2026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3217972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85F8D3-7EE0-4637-B8C0-AD8CC4885337}"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3308049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85F8D3-7EE0-4637-B8C0-AD8CC4885337}"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1004188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D85F8D3-7EE0-4637-B8C0-AD8CC4885337}"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27930439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D85F8D3-7EE0-4637-B8C0-AD8CC4885337}"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0AD8B1-4A78-4DC5-A2A7-C09717D4A03E}"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070348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5F8D3-7EE0-4637-B8C0-AD8CC4885337}"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5430918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D85F8D3-7EE0-4637-B8C0-AD8CC4885337}" type="datetimeFigureOut">
              <a:rPr lang="en-IN" smtClean="0"/>
              <a:t>14-02-2026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653247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D85F8D3-7EE0-4637-B8C0-AD8CC4885337}" type="datetimeFigureOut">
              <a:rPr lang="en-IN" smtClean="0"/>
              <a:t>14-02-2026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42089772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85F8D3-7EE0-4637-B8C0-AD8CC4885337}"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3751525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85F8D3-7EE0-4637-B8C0-AD8CC4885337}"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0AD8B1-4A78-4DC5-A2A7-C09717D4A03E}" type="slidenum">
              <a:rPr lang="en-IN" smtClean="0"/>
              <a:t>‹#›</a:t>
            </a:fld>
            <a:endParaRPr lang="en-IN"/>
          </a:p>
        </p:txBody>
      </p:sp>
    </p:spTree>
    <p:extLst>
      <p:ext uri="{BB962C8B-B14F-4D97-AF65-F5344CB8AC3E}">
        <p14:creationId xmlns:p14="http://schemas.microsoft.com/office/powerpoint/2010/main" val="1290176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D85F8D3-7EE0-4637-B8C0-AD8CC4885337}" type="datetimeFigureOut">
              <a:rPr lang="en-IN" smtClean="0"/>
              <a:t>14-02-2026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F0AD8B1-4A78-4DC5-A2A7-C09717D4A03E}" type="slidenum">
              <a:rPr lang="en-IN" smtClean="0"/>
              <a:t>‹#›</a:t>
            </a:fld>
            <a:endParaRPr lang="en-IN"/>
          </a:p>
        </p:txBody>
      </p:sp>
    </p:spTree>
    <p:extLst>
      <p:ext uri="{BB962C8B-B14F-4D97-AF65-F5344CB8AC3E}">
        <p14:creationId xmlns:p14="http://schemas.microsoft.com/office/powerpoint/2010/main" val="2346918062"/>
      </p:ext>
    </p:extLst>
  </p:cSld>
  <p:clrMap bg1="dk1" tx1="lt1" bg2="dk2" tx2="lt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 id="2147483754"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s://www.theseus.fi/handle/10024/873889"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A0507-0251-3E3C-36EC-EE5E13FA159F}"/>
              </a:ext>
            </a:extLst>
          </p:cNvPr>
          <p:cNvSpPr>
            <a:spLocks noGrp="1"/>
          </p:cNvSpPr>
          <p:nvPr>
            <p:ph type="ctrTitle"/>
          </p:nvPr>
        </p:nvSpPr>
        <p:spPr>
          <a:xfrm>
            <a:off x="662435" y="327742"/>
            <a:ext cx="10631156" cy="2387600"/>
          </a:xfrm>
        </p:spPr>
        <p:txBody>
          <a:bodyPr>
            <a:normAutofit/>
          </a:bodyPr>
          <a:lstStyle/>
          <a:p>
            <a:pPr algn="ctr">
              <a:lnSpc>
                <a:spcPct val="100000"/>
              </a:lnSpc>
            </a:pPr>
            <a:r>
              <a:rPr lang="en-IN" sz="5400" u="sng" dirty="0">
                <a:latin typeface="Century" panose="02040604050505020304" pitchFamily="18" charset="0"/>
                <a:ea typeface="Arial Unicode MS" panose="020B0604020202020204" pitchFamily="34" charset="-128"/>
                <a:cs typeface="Arial Unicode MS" panose="020B0604020202020204" pitchFamily="34" charset="-128"/>
              </a:rPr>
              <a:t>INNOVATION MANAGEMENT SYSTEM</a:t>
            </a:r>
          </a:p>
        </p:txBody>
      </p:sp>
      <p:sp>
        <p:nvSpPr>
          <p:cNvPr id="4" name="TextBox 3">
            <a:extLst>
              <a:ext uri="{FF2B5EF4-FFF2-40B4-BE49-F238E27FC236}">
                <a16:creationId xmlns:a16="http://schemas.microsoft.com/office/drawing/2014/main" id="{378828FF-0EF3-5454-13F3-850BC9BDA30F}"/>
              </a:ext>
            </a:extLst>
          </p:cNvPr>
          <p:cNvSpPr txBox="1"/>
          <p:nvPr/>
        </p:nvSpPr>
        <p:spPr>
          <a:xfrm>
            <a:off x="735692" y="3910640"/>
            <a:ext cx="7739714" cy="1384995"/>
          </a:xfrm>
          <a:prstGeom prst="rect">
            <a:avLst/>
          </a:prstGeom>
          <a:noFill/>
        </p:spPr>
        <p:txBody>
          <a:bodyPr wrap="square" rtlCol="0">
            <a:spAutoFit/>
          </a:bodyPr>
          <a:lstStyle/>
          <a:p>
            <a:r>
              <a:rPr lang="en-IN" sz="2800" b="1" dirty="0"/>
              <a:t>Name :SASIKUMAR E</a:t>
            </a:r>
          </a:p>
          <a:p>
            <a:r>
              <a:rPr lang="en-IN" sz="2800" b="1" dirty="0"/>
              <a:t>Department :AGRICULTURAL ENGINEERING</a:t>
            </a:r>
          </a:p>
          <a:p>
            <a:r>
              <a:rPr lang="en-IN" sz="2800" b="1" dirty="0"/>
              <a:t>REG.NO:7376232AG146</a:t>
            </a:r>
          </a:p>
        </p:txBody>
      </p:sp>
    </p:spTree>
    <p:extLst>
      <p:ext uri="{BB962C8B-B14F-4D97-AF65-F5344CB8AC3E}">
        <p14:creationId xmlns:p14="http://schemas.microsoft.com/office/powerpoint/2010/main" val="2423205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AB5353-2B31-167B-82BD-FD5C17DF82AB}"/>
              </a:ext>
            </a:extLst>
          </p:cNvPr>
          <p:cNvSpPr txBox="1"/>
          <p:nvPr/>
        </p:nvSpPr>
        <p:spPr>
          <a:xfrm>
            <a:off x="1258530" y="1081548"/>
            <a:ext cx="9704439" cy="1015663"/>
          </a:xfrm>
          <a:prstGeom prst="rect">
            <a:avLst/>
          </a:prstGeom>
          <a:noFill/>
        </p:spPr>
        <p:txBody>
          <a:bodyPr wrap="square" rtlCol="0">
            <a:spAutoFit/>
          </a:bodyPr>
          <a:lstStyle/>
          <a:p>
            <a:r>
              <a:rPr lang="en-US" sz="2400" b="1" dirty="0"/>
              <a:t>PROBLEM STATEMENT</a:t>
            </a:r>
            <a:br>
              <a:rPr lang="en-US" dirty="0"/>
            </a:br>
            <a:br>
              <a:rPr lang="en-US" dirty="0"/>
            </a:br>
            <a:endParaRPr lang="en-IN" dirty="0"/>
          </a:p>
        </p:txBody>
      </p:sp>
      <p:sp>
        <p:nvSpPr>
          <p:cNvPr id="3" name="TextBox 2">
            <a:extLst>
              <a:ext uri="{FF2B5EF4-FFF2-40B4-BE49-F238E27FC236}">
                <a16:creationId xmlns:a16="http://schemas.microsoft.com/office/drawing/2014/main" id="{E898D0EB-2AC6-154A-A90A-301157DAB41E}"/>
              </a:ext>
            </a:extLst>
          </p:cNvPr>
          <p:cNvSpPr txBox="1"/>
          <p:nvPr/>
        </p:nvSpPr>
        <p:spPr>
          <a:xfrm>
            <a:off x="1258530" y="1868127"/>
            <a:ext cx="9488129" cy="3265446"/>
          </a:xfrm>
          <a:prstGeom prst="rect">
            <a:avLst/>
          </a:prstGeom>
          <a:noFill/>
        </p:spPr>
        <p:txBody>
          <a:bodyPr wrap="square" rtlCol="0">
            <a:spAutoFit/>
          </a:bodyPr>
          <a:lstStyle/>
          <a:p>
            <a:pPr algn="just">
              <a:lnSpc>
                <a:spcPct val="150000"/>
              </a:lnSpc>
            </a:pPr>
            <a:r>
              <a:rPr lang="en-US" sz="2000" dirty="0"/>
              <a:t>In many organizations and institutions, innovative ideas are often shared informally through emails, meetings, or paper-based methods. This leads to issues such as lack of proper documentation, difficulty in tracking ideas, limited collaboration, delayed evaluation, and absence of transparency in the idea selection process. As the number of ideas and participants increases, managing and evaluating them efficiently becomes challenging.</a:t>
            </a:r>
            <a:endParaRPr lang="en-IN" sz="2000" dirty="0"/>
          </a:p>
        </p:txBody>
      </p:sp>
    </p:spTree>
    <p:extLst>
      <p:ext uri="{BB962C8B-B14F-4D97-AF65-F5344CB8AC3E}">
        <p14:creationId xmlns:p14="http://schemas.microsoft.com/office/powerpoint/2010/main" val="3509097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73DBCB-D8F6-A43F-141E-D2F904F63268}"/>
              </a:ext>
            </a:extLst>
          </p:cNvPr>
          <p:cNvSpPr txBox="1"/>
          <p:nvPr/>
        </p:nvSpPr>
        <p:spPr>
          <a:xfrm>
            <a:off x="511277" y="422787"/>
            <a:ext cx="3618271" cy="830997"/>
          </a:xfrm>
          <a:prstGeom prst="rect">
            <a:avLst/>
          </a:prstGeom>
          <a:noFill/>
        </p:spPr>
        <p:txBody>
          <a:bodyPr wrap="square" rtlCol="0">
            <a:spAutoFit/>
          </a:bodyPr>
          <a:lstStyle/>
          <a:p>
            <a:r>
              <a:rPr lang="en-IN" sz="2400" b="1" dirty="0"/>
              <a:t>Literature Survey</a:t>
            </a:r>
          </a:p>
          <a:p>
            <a:endParaRPr lang="en-IN" sz="2400" dirty="0"/>
          </a:p>
        </p:txBody>
      </p:sp>
      <p:sp>
        <p:nvSpPr>
          <p:cNvPr id="9" name="Rectangle 3">
            <a:extLst>
              <a:ext uri="{FF2B5EF4-FFF2-40B4-BE49-F238E27FC236}">
                <a16:creationId xmlns:a16="http://schemas.microsoft.com/office/drawing/2014/main" id="{E89A0278-BE87-145C-6FC4-16D6D8B7CC0E}"/>
              </a:ext>
            </a:extLst>
          </p:cNvPr>
          <p:cNvSpPr>
            <a:spLocks noChangeArrowheads="1"/>
          </p:cNvSpPr>
          <p:nvPr/>
        </p:nvSpPr>
        <p:spPr bwMode="auto">
          <a:xfrm>
            <a:off x="940549" y="1069119"/>
            <a:ext cx="1045503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Arial" panose="020B0604020202020204" pitchFamily="34" charset="0"/>
              </a:rPr>
              <a:t>Problem &amp; Need</a:t>
            </a:r>
            <a:r>
              <a:rPr kumimoji="0" lang="en-US" altLang="en-US" sz="2400" b="0" i="0" u="none" strike="noStrike" cap="none" normalizeH="0" baseline="0" dirty="0">
                <a:ln>
                  <a:noFill/>
                </a:ln>
                <a:solidFill>
                  <a:schemeClr val="tx1"/>
                </a:solidFill>
                <a:effectLst/>
                <a:latin typeface="Arial" panose="020B0604020202020204" pitchFamily="34" charset="0"/>
              </a:rPr>
              <a:t>: Many businesses still use manual inventory methods like spreadsheets, which are error-prone, non-scalable, and inefficient for multi-branch operations.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Arial" panose="020B0604020202020204" pitchFamily="34" charset="0"/>
              </a:rPr>
              <a:t>Proposed Solution</a:t>
            </a:r>
            <a:r>
              <a:rPr kumimoji="0" lang="en-US" altLang="en-US" sz="2400" b="0" i="0" u="none" strike="noStrike" cap="none" normalizeH="0" baseline="0" dirty="0">
                <a:ln>
                  <a:noFill/>
                </a:ln>
                <a:solidFill>
                  <a:schemeClr val="tx1"/>
                </a:solidFill>
                <a:effectLst/>
                <a:latin typeface="Arial" panose="020B0604020202020204" pitchFamily="34" charset="0"/>
              </a:rPr>
              <a:t>: A modern inventory management system was developed using the </a:t>
            </a:r>
            <a:r>
              <a:rPr kumimoji="0" lang="en-US" altLang="en-US" sz="2400" b="1" i="0" u="none" strike="noStrike" cap="none" normalizeH="0" baseline="0" dirty="0">
                <a:ln>
                  <a:noFill/>
                </a:ln>
                <a:solidFill>
                  <a:schemeClr val="tx1"/>
                </a:solidFill>
                <a:effectLst/>
                <a:latin typeface="Arial" panose="020B0604020202020204" pitchFamily="34" charset="0"/>
              </a:rPr>
              <a:t>MERN stack</a:t>
            </a:r>
            <a:r>
              <a:rPr kumimoji="0" lang="en-US" altLang="en-US" sz="2400" b="0" i="0" u="none" strike="noStrike" cap="none" normalizeH="0" baseline="0" dirty="0">
                <a:ln>
                  <a:noFill/>
                </a:ln>
                <a:solidFill>
                  <a:schemeClr val="tx1"/>
                </a:solidFill>
                <a:effectLst/>
                <a:latin typeface="Arial" panose="020B0604020202020204" pitchFamily="34" charset="0"/>
              </a:rPr>
              <a:t> to provide real-time tracking, automation, and centralized control across multiple branches.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Arial" panose="020B0604020202020204" pitchFamily="34" charset="0"/>
              </a:rPr>
              <a:t>Implementation &amp; Collaboration</a:t>
            </a:r>
            <a:r>
              <a:rPr kumimoji="0" lang="en-US" altLang="en-US" sz="2400" b="0" i="0" u="none" strike="noStrike" cap="none" normalizeH="0" baseline="0" dirty="0">
                <a:ln>
                  <a:noFill/>
                </a:ln>
                <a:solidFill>
                  <a:schemeClr val="tx1"/>
                </a:solidFill>
                <a:effectLst/>
                <a:latin typeface="Arial" panose="020B0604020202020204" pitchFamily="34" charset="0"/>
              </a:rPr>
              <a:t>: Backend was developed using Node.js with MongoDB and </a:t>
            </a:r>
            <a:r>
              <a:rPr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tested via Postman, while the frontend was built using React.js; GitHub was used for version control and team collaboration.</a:t>
            </a:r>
          </a:p>
        </p:txBody>
      </p:sp>
      <p:sp>
        <p:nvSpPr>
          <p:cNvPr id="10" name="TextBox 9">
            <a:extLst>
              <a:ext uri="{FF2B5EF4-FFF2-40B4-BE49-F238E27FC236}">
                <a16:creationId xmlns:a16="http://schemas.microsoft.com/office/drawing/2014/main" id="{48CD1D1A-37EF-DBBD-A476-F30886E98EAF}"/>
              </a:ext>
            </a:extLst>
          </p:cNvPr>
          <p:cNvSpPr txBox="1"/>
          <p:nvPr/>
        </p:nvSpPr>
        <p:spPr>
          <a:xfrm>
            <a:off x="940549" y="5948517"/>
            <a:ext cx="7659329" cy="369332"/>
          </a:xfrm>
          <a:prstGeom prst="rect">
            <a:avLst/>
          </a:prstGeom>
          <a:noFill/>
        </p:spPr>
        <p:txBody>
          <a:bodyPr wrap="square" rtlCol="0">
            <a:spAutoFit/>
          </a:bodyPr>
          <a:lstStyle/>
          <a:p>
            <a:r>
              <a:rPr lang="en-IN" dirty="0"/>
              <a:t>Reference:  </a:t>
            </a:r>
            <a:r>
              <a:rPr lang="en-IN" dirty="0">
                <a:hlinkClick r:id="rId2"/>
              </a:rPr>
              <a:t>https://www.theseus.fi/handle/10024/873889</a:t>
            </a:r>
            <a:r>
              <a:rPr lang="en-IN" dirty="0"/>
              <a:t> </a:t>
            </a:r>
          </a:p>
        </p:txBody>
      </p:sp>
    </p:spTree>
    <p:extLst>
      <p:ext uri="{BB962C8B-B14F-4D97-AF65-F5344CB8AC3E}">
        <p14:creationId xmlns:p14="http://schemas.microsoft.com/office/powerpoint/2010/main" val="2593963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D9A838-B663-5B9F-92CB-C21316AC7898}"/>
              </a:ext>
            </a:extLst>
          </p:cNvPr>
          <p:cNvSpPr txBox="1"/>
          <p:nvPr/>
        </p:nvSpPr>
        <p:spPr>
          <a:xfrm>
            <a:off x="855407" y="954277"/>
            <a:ext cx="10766322" cy="4361771"/>
          </a:xfrm>
          <a:prstGeom prst="rect">
            <a:avLst/>
          </a:prstGeom>
          <a:noFill/>
        </p:spPr>
        <p:txBody>
          <a:bodyPr wrap="square" rtlCol="0">
            <a:spAutoFit/>
          </a:bodyPr>
          <a:lstStyle/>
          <a:p>
            <a:pPr algn="just">
              <a:lnSpc>
                <a:spcPct val="150000"/>
              </a:lnSpc>
            </a:pPr>
            <a:r>
              <a:rPr lang="en-IN" sz="2400" b="1" dirty="0"/>
              <a:t>TECHNOLOGY STACK </a:t>
            </a:r>
          </a:p>
          <a:p>
            <a:pPr algn="just">
              <a:lnSpc>
                <a:spcPct val="150000"/>
              </a:lnSpc>
            </a:pPr>
            <a:r>
              <a:rPr lang="en-IN" sz="2200" b="1" dirty="0"/>
              <a:t>Frontend </a:t>
            </a:r>
          </a:p>
          <a:p>
            <a:pPr algn="just">
              <a:lnSpc>
                <a:spcPct val="150000"/>
              </a:lnSpc>
            </a:pPr>
            <a:r>
              <a:rPr lang="en-IN" sz="2200" dirty="0"/>
              <a:t>• React.js – </a:t>
            </a:r>
            <a:r>
              <a:rPr lang="en-IN" sz="2400" dirty="0"/>
              <a:t>Ideal for </a:t>
            </a:r>
            <a:r>
              <a:rPr lang="en-IN" sz="2400" b="1" dirty="0"/>
              <a:t>single-page applications</a:t>
            </a:r>
            <a:r>
              <a:rPr lang="en-IN" sz="2200" b="1" dirty="0"/>
              <a:t> </a:t>
            </a:r>
            <a:r>
              <a:rPr lang="en-IN" sz="2200" dirty="0"/>
              <a:t>Used for building      responsive forms, tables, and dashboards for user interaction. </a:t>
            </a:r>
          </a:p>
          <a:p>
            <a:pPr algn="just">
              <a:lnSpc>
                <a:spcPct val="150000"/>
              </a:lnSpc>
            </a:pPr>
            <a:r>
              <a:rPr lang="en-IN" sz="2200" dirty="0"/>
              <a:t>•   </a:t>
            </a:r>
            <a:r>
              <a:rPr lang="en-IN" sz="2400" dirty="0"/>
              <a:t>Bootstrap</a:t>
            </a:r>
            <a:r>
              <a:rPr lang="en-IN" sz="2200" dirty="0"/>
              <a:t> – </a:t>
            </a:r>
            <a:r>
              <a:rPr lang="en-IN" sz="2400" dirty="0"/>
              <a:t>Provides </a:t>
            </a:r>
            <a:r>
              <a:rPr lang="en-IN" sz="2400" b="1" dirty="0"/>
              <a:t>pre-designed responsive components.</a:t>
            </a:r>
          </a:p>
          <a:p>
            <a:pPr marL="342900" indent="-342900" algn="just">
              <a:lnSpc>
                <a:spcPct val="150000"/>
              </a:lnSpc>
              <a:buFont typeface="Arial" panose="020B0604020202020204" pitchFamily="34" charset="0"/>
              <a:buChar char="•"/>
            </a:pPr>
            <a:r>
              <a:rPr lang="en-IN" sz="2400" dirty="0"/>
              <a:t>CSS - </a:t>
            </a:r>
            <a:r>
              <a:rPr lang="en-US" sz="2400" dirty="0"/>
              <a:t>Used for </a:t>
            </a:r>
            <a:r>
              <a:rPr lang="en-US" sz="2400" b="1" dirty="0"/>
              <a:t>styling and layout</a:t>
            </a:r>
            <a:r>
              <a:rPr lang="en-US" sz="2400" dirty="0"/>
              <a:t> of web pages</a:t>
            </a:r>
          </a:p>
          <a:p>
            <a:pPr marL="342900" indent="-342900" algn="just">
              <a:lnSpc>
                <a:spcPct val="150000"/>
              </a:lnSpc>
              <a:buFont typeface="Arial" panose="020B0604020202020204" pitchFamily="34" charset="0"/>
              <a:buChar char="•"/>
            </a:pPr>
            <a:r>
              <a:rPr lang="en-US" sz="2400" dirty="0" err="1"/>
              <a:t>Javascript</a:t>
            </a:r>
            <a:r>
              <a:rPr lang="en-US" sz="2400" dirty="0"/>
              <a:t> - Enables </a:t>
            </a:r>
            <a:r>
              <a:rPr lang="en-US" sz="2400" b="1" dirty="0"/>
              <a:t>dynamic and interactive behavior</a:t>
            </a:r>
            <a:r>
              <a:rPr lang="en-US" sz="2400" dirty="0"/>
              <a:t> on web pages</a:t>
            </a:r>
            <a:endParaRPr lang="en-IN" sz="2400" dirty="0"/>
          </a:p>
        </p:txBody>
      </p:sp>
    </p:spTree>
    <p:extLst>
      <p:ext uri="{BB962C8B-B14F-4D97-AF65-F5344CB8AC3E}">
        <p14:creationId xmlns:p14="http://schemas.microsoft.com/office/powerpoint/2010/main" val="4121481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C6E2A5-BF20-B656-E08E-6B0711B7639F}"/>
              </a:ext>
            </a:extLst>
          </p:cNvPr>
          <p:cNvSpPr txBox="1"/>
          <p:nvPr/>
        </p:nvSpPr>
        <p:spPr>
          <a:xfrm>
            <a:off x="622944" y="575783"/>
            <a:ext cx="10481186" cy="5706434"/>
          </a:xfrm>
          <a:prstGeom prst="rect">
            <a:avLst/>
          </a:prstGeom>
          <a:noFill/>
        </p:spPr>
        <p:txBody>
          <a:bodyPr wrap="square" rtlCol="0">
            <a:spAutoFit/>
          </a:bodyPr>
          <a:lstStyle/>
          <a:p>
            <a:pPr algn="just">
              <a:lnSpc>
                <a:spcPct val="150000"/>
              </a:lnSpc>
            </a:pPr>
            <a:r>
              <a:rPr lang="en-IN" sz="2200" b="1" dirty="0"/>
              <a:t>Backend :</a:t>
            </a:r>
          </a:p>
          <a:p>
            <a:pPr algn="just">
              <a:lnSpc>
                <a:spcPct val="150000"/>
              </a:lnSpc>
            </a:pPr>
            <a:r>
              <a:rPr lang="en-IN" sz="2200" dirty="0"/>
              <a:t>• Node.js    – Runtime environment for executing server-side code. </a:t>
            </a:r>
          </a:p>
          <a:p>
            <a:pPr algn="just">
              <a:lnSpc>
                <a:spcPct val="150000"/>
              </a:lnSpc>
            </a:pPr>
            <a:r>
              <a:rPr lang="en-IN" sz="2200" dirty="0"/>
              <a:t>• Express.js – Web framework for routing and exposing RESTful APIs for data handling, authentication. </a:t>
            </a:r>
            <a:endParaRPr lang="en-IN" sz="2200" b="1" dirty="0"/>
          </a:p>
          <a:p>
            <a:pPr algn="just">
              <a:lnSpc>
                <a:spcPct val="150000"/>
              </a:lnSpc>
            </a:pPr>
            <a:r>
              <a:rPr lang="en-IN" sz="2200" b="1" dirty="0"/>
              <a:t>Database :</a:t>
            </a:r>
          </a:p>
          <a:p>
            <a:pPr algn="just">
              <a:lnSpc>
                <a:spcPct val="150000"/>
              </a:lnSpc>
            </a:pPr>
            <a:r>
              <a:rPr lang="en-IN" sz="2200" dirty="0"/>
              <a:t>• MongoDB – A NoSQL database used to store user accounts, sustainability logs, and configuration values. </a:t>
            </a:r>
            <a:r>
              <a:rPr lang="en-US" sz="2400" dirty="0"/>
              <a:t>Easy to modify data structure without affecting existing data</a:t>
            </a:r>
            <a:endParaRPr lang="en-IN" sz="2200" dirty="0"/>
          </a:p>
          <a:p>
            <a:pPr algn="just">
              <a:lnSpc>
                <a:spcPct val="150000"/>
              </a:lnSpc>
            </a:pPr>
            <a:r>
              <a:rPr lang="en-IN" sz="2200" b="1" dirty="0"/>
              <a:t>Security :</a:t>
            </a:r>
          </a:p>
          <a:p>
            <a:pPr algn="just">
              <a:lnSpc>
                <a:spcPct val="150000"/>
              </a:lnSpc>
            </a:pPr>
            <a:r>
              <a:rPr lang="en-IN" sz="2200" dirty="0"/>
              <a:t>• JSON Web Tokens (JWT) – Secure session management and Role-Based Access Control (RBAC). </a:t>
            </a:r>
          </a:p>
        </p:txBody>
      </p:sp>
    </p:spTree>
    <p:extLst>
      <p:ext uri="{BB962C8B-B14F-4D97-AF65-F5344CB8AC3E}">
        <p14:creationId xmlns:p14="http://schemas.microsoft.com/office/powerpoint/2010/main" val="274271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ADB080-2AFC-BE4D-B94E-B8C72924A8E2}"/>
              </a:ext>
            </a:extLst>
          </p:cNvPr>
          <p:cNvSpPr txBox="1"/>
          <p:nvPr/>
        </p:nvSpPr>
        <p:spPr>
          <a:xfrm>
            <a:off x="263020" y="285774"/>
            <a:ext cx="9881937" cy="2308324"/>
          </a:xfrm>
          <a:prstGeom prst="rect">
            <a:avLst/>
          </a:prstGeom>
          <a:noFill/>
        </p:spPr>
        <p:txBody>
          <a:bodyPr wrap="square" rtlCol="0">
            <a:spAutoFit/>
          </a:bodyPr>
          <a:lstStyle/>
          <a:p>
            <a:r>
              <a:rPr lang="en-IN" sz="2400" b="1" dirty="0"/>
              <a:t>SYSTEM ARCHITECTURE</a:t>
            </a:r>
          </a:p>
          <a:p>
            <a:endParaRPr lang="en-IN" sz="2400" b="1" dirty="0"/>
          </a:p>
          <a:p>
            <a:pPr algn="just"/>
            <a:r>
              <a:rPr lang="en-IN" sz="2400" b="1" dirty="0"/>
              <a:t>                                          </a:t>
            </a:r>
          </a:p>
          <a:p>
            <a:pPr algn="just"/>
            <a:r>
              <a:rPr lang="en-IN" sz="2400" b="1" dirty="0"/>
              <a:t>                               </a:t>
            </a:r>
          </a:p>
          <a:p>
            <a:pPr algn="just"/>
            <a:endParaRPr lang="en-IN" sz="2400" b="1" dirty="0"/>
          </a:p>
          <a:p>
            <a:pPr algn="just"/>
            <a:endParaRPr lang="en-IN" sz="2400" b="1" dirty="0"/>
          </a:p>
        </p:txBody>
      </p:sp>
      <p:cxnSp>
        <p:nvCxnSpPr>
          <p:cNvPr id="4" name="Straight Arrow Connector 3">
            <a:extLst>
              <a:ext uri="{FF2B5EF4-FFF2-40B4-BE49-F238E27FC236}">
                <a16:creationId xmlns:a16="http://schemas.microsoft.com/office/drawing/2014/main" id="{5760EC59-0954-BD75-87A9-74DF885B2D45}"/>
              </a:ext>
            </a:extLst>
          </p:cNvPr>
          <p:cNvCxnSpPr>
            <a:cxnSpLocks/>
          </p:cNvCxnSpPr>
          <p:nvPr/>
        </p:nvCxnSpPr>
        <p:spPr>
          <a:xfrm>
            <a:off x="5982926" y="2023891"/>
            <a:ext cx="4" cy="5009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 name="Straight Arrow Connector 4">
            <a:extLst>
              <a:ext uri="{FF2B5EF4-FFF2-40B4-BE49-F238E27FC236}">
                <a16:creationId xmlns:a16="http://schemas.microsoft.com/office/drawing/2014/main" id="{DC7D1A45-71AD-88EB-F88A-220D58CEB6B4}"/>
              </a:ext>
            </a:extLst>
          </p:cNvPr>
          <p:cNvCxnSpPr>
            <a:cxnSpLocks/>
          </p:cNvCxnSpPr>
          <p:nvPr/>
        </p:nvCxnSpPr>
        <p:spPr>
          <a:xfrm flipH="1">
            <a:off x="5987839" y="2961548"/>
            <a:ext cx="4" cy="3798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981B66B0-066B-8BA4-F8DD-99BE0DB74D41}"/>
              </a:ext>
            </a:extLst>
          </p:cNvPr>
          <p:cNvCxnSpPr>
            <a:cxnSpLocks/>
          </p:cNvCxnSpPr>
          <p:nvPr/>
        </p:nvCxnSpPr>
        <p:spPr>
          <a:xfrm>
            <a:off x="6017336" y="5252134"/>
            <a:ext cx="0" cy="3798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Rectangle: Rounded Corners 9">
            <a:extLst>
              <a:ext uri="{FF2B5EF4-FFF2-40B4-BE49-F238E27FC236}">
                <a16:creationId xmlns:a16="http://schemas.microsoft.com/office/drawing/2014/main" id="{7F921F42-9496-946B-DBE3-B6A7B4AB803C}"/>
              </a:ext>
            </a:extLst>
          </p:cNvPr>
          <p:cNvSpPr/>
          <p:nvPr/>
        </p:nvSpPr>
        <p:spPr>
          <a:xfrm>
            <a:off x="3828614" y="1590316"/>
            <a:ext cx="4367617" cy="42792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a:p>
            <a:pPr algn="ctr"/>
            <a:r>
              <a:rPr lang="en-IN" dirty="0"/>
              <a:t>Browser (Frontend UI)</a:t>
            </a:r>
          </a:p>
          <a:p>
            <a:pPr algn="ctr"/>
            <a:endParaRPr lang="en-IN" dirty="0"/>
          </a:p>
        </p:txBody>
      </p:sp>
      <p:sp>
        <p:nvSpPr>
          <p:cNvPr id="11" name="Rectangle: Rounded Corners 10">
            <a:extLst>
              <a:ext uri="{FF2B5EF4-FFF2-40B4-BE49-F238E27FC236}">
                <a16:creationId xmlns:a16="http://schemas.microsoft.com/office/drawing/2014/main" id="{742FC42F-D58A-7DE1-F9A5-3245B0E50152}"/>
              </a:ext>
            </a:extLst>
          </p:cNvPr>
          <p:cNvSpPr/>
          <p:nvPr/>
        </p:nvSpPr>
        <p:spPr>
          <a:xfrm>
            <a:off x="3828614" y="2519209"/>
            <a:ext cx="4367617" cy="42792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a:p>
            <a:pPr algn="just"/>
            <a:r>
              <a:rPr lang="en-IN" dirty="0"/>
              <a:t>                  REST API  (Axios)</a:t>
            </a:r>
          </a:p>
          <a:p>
            <a:pPr algn="ctr"/>
            <a:endParaRPr lang="en-IN" dirty="0"/>
          </a:p>
        </p:txBody>
      </p:sp>
      <p:sp>
        <p:nvSpPr>
          <p:cNvPr id="12" name="Rectangle: Rounded Corners 11">
            <a:extLst>
              <a:ext uri="{FF2B5EF4-FFF2-40B4-BE49-F238E27FC236}">
                <a16:creationId xmlns:a16="http://schemas.microsoft.com/office/drawing/2014/main" id="{9B926F57-B73D-E663-8175-A88A51C65D6B}"/>
              </a:ext>
            </a:extLst>
          </p:cNvPr>
          <p:cNvSpPr/>
          <p:nvPr/>
        </p:nvSpPr>
        <p:spPr>
          <a:xfrm>
            <a:off x="3910947" y="3352746"/>
            <a:ext cx="4367618" cy="189938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Node.js + Express (Backend server)</a:t>
            </a:r>
          </a:p>
          <a:p>
            <a:pPr algn="ctr"/>
            <a:endParaRPr lang="en-IN" dirty="0"/>
          </a:p>
          <a:p>
            <a:pPr algn="ctr"/>
            <a:r>
              <a:rPr lang="en-IN" dirty="0"/>
              <a:t>Routes(Auth, Users, Ideas , challenges)</a:t>
            </a:r>
          </a:p>
        </p:txBody>
      </p:sp>
      <p:sp>
        <p:nvSpPr>
          <p:cNvPr id="15" name="Rectangle: Rounded Corners 14">
            <a:extLst>
              <a:ext uri="{FF2B5EF4-FFF2-40B4-BE49-F238E27FC236}">
                <a16:creationId xmlns:a16="http://schemas.microsoft.com/office/drawing/2014/main" id="{CFDFC3A1-207C-665C-72E6-C462F09316C3}"/>
              </a:ext>
            </a:extLst>
          </p:cNvPr>
          <p:cNvSpPr/>
          <p:nvPr/>
        </p:nvSpPr>
        <p:spPr>
          <a:xfrm>
            <a:off x="3910947" y="5632024"/>
            <a:ext cx="4367617" cy="54958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a:p>
            <a:pPr algn="ctr"/>
            <a:r>
              <a:rPr lang="en-IN" dirty="0"/>
              <a:t>MongoDB (Database)</a:t>
            </a:r>
          </a:p>
          <a:p>
            <a:pPr algn="ctr"/>
            <a:endParaRPr lang="en-IN" dirty="0"/>
          </a:p>
        </p:txBody>
      </p:sp>
      <p:cxnSp>
        <p:nvCxnSpPr>
          <p:cNvPr id="6" name="Straight Arrow Connector 5">
            <a:extLst>
              <a:ext uri="{FF2B5EF4-FFF2-40B4-BE49-F238E27FC236}">
                <a16:creationId xmlns:a16="http://schemas.microsoft.com/office/drawing/2014/main" id="{E9FBF4CA-1B85-0A0B-F2FF-B63456F9F4D5}"/>
              </a:ext>
            </a:extLst>
          </p:cNvPr>
          <p:cNvCxnSpPr/>
          <p:nvPr/>
        </p:nvCxnSpPr>
        <p:spPr>
          <a:xfrm flipV="1">
            <a:off x="6012423" y="5252134"/>
            <a:ext cx="0" cy="3798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33D1E0DB-23B3-0253-2D79-A1E79D842C1B}"/>
              </a:ext>
            </a:extLst>
          </p:cNvPr>
          <p:cNvCxnSpPr/>
          <p:nvPr/>
        </p:nvCxnSpPr>
        <p:spPr>
          <a:xfrm flipV="1">
            <a:off x="5982926" y="2972856"/>
            <a:ext cx="0" cy="3798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D96CB25C-FB52-6584-BF7B-241C15756C39}"/>
              </a:ext>
            </a:extLst>
          </p:cNvPr>
          <p:cNvCxnSpPr>
            <a:cxnSpLocks/>
          </p:cNvCxnSpPr>
          <p:nvPr/>
        </p:nvCxnSpPr>
        <p:spPr>
          <a:xfrm flipV="1">
            <a:off x="5987839" y="2023891"/>
            <a:ext cx="0" cy="4305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 name="Rectangle: Rounded Corners 2">
            <a:extLst>
              <a:ext uri="{FF2B5EF4-FFF2-40B4-BE49-F238E27FC236}">
                <a16:creationId xmlns:a16="http://schemas.microsoft.com/office/drawing/2014/main" id="{017C5B38-CF2F-BD67-E972-2D6B9E2B938E}"/>
              </a:ext>
            </a:extLst>
          </p:cNvPr>
          <p:cNvSpPr/>
          <p:nvPr/>
        </p:nvSpPr>
        <p:spPr>
          <a:xfrm>
            <a:off x="3828613" y="732754"/>
            <a:ext cx="4367617" cy="42792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a:p>
            <a:pPr algn="ctr"/>
            <a:r>
              <a:rPr lang="en-IN" dirty="0"/>
              <a:t>User</a:t>
            </a:r>
          </a:p>
          <a:p>
            <a:pPr algn="ctr"/>
            <a:endParaRPr lang="en-IN" dirty="0"/>
          </a:p>
        </p:txBody>
      </p:sp>
      <p:cxnSp>
        <p:nvCxnSpPr>
          <p:cNvPr id="14" name="Straight Arrow Connector 13">
            <a:extLst>
              <a:ext uri="{FF2B5EF4-FFF2-40B4-BE49-F238E27FC236}">
                <a16:creationId xmlns:a16="http://schemas.microsoft.com/office/drawing/2014/main" id="{EF399416-1903-2068-EB57-AB6AAEA75B33}"/>
              </a:ext>
            </a:extLst>
          </p:cNvPr>
          <p:cNvCxnSpPr>
            <a:cxnSpLocks/>
          </p:cNvCxnSpPr>
          <p:nvPr/>
        </p:nvCxnSpPr>
        <p:spPr>
          <a:xfrm flipV="1">
            <a:off x="5980475" y="1160675"/>
            <a:ext cx="0" cy="41041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94746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Box 88">
            <a:extLst>
              <a:ext uri="{FF2B5EF4-FFF2-40B4-BE49-F238E27FC236}">
                <a16:creationId xmlns:a16="http://schemas.microsoft.com/office/drawing/2014/main" id="{C727B772-DBDF-676A-7B0D-2645337C9E84}"/>
              </a:ext>
            </a:extLst>
          </p:cNvPr>
          <p:cNvSpPr txBox="1"/>
          <p:nvPr/>
        </p:nvSpPr>
        <p:spPr>
          <a:xfrm>
            <a:off x="0" y="83574"/>
            <a:ext cx="5982345" cy="1938992"/>
          </a:xfrm>
          <a:prstGeom prst="rect">
            <a:avLst/>
          </a:prstGeom>
          <a:noFill/>
        </p:spPr>
        <p:txBody>
          <a:bodyPr wrap="square" rtlCol="0">
            <a:spAutoFit/>
          </a:bodyPr>
          <a:lstStyle/>
          <a:p>
            <a:r>
              <a:rPr lang="en-IN" sz="2400" b="1" dirty="0"/>
              <a:t>Database Schema &amp; ER DIAGRAM</a:t>
            </a:r>
          </a:p>
          <a:p>
            <a:endParaRPr lang="en-IN" sz="2400" b="1" dirty="0"/>
          </a:p>
          <a:p>
            <a:endParaRPr lang="en-IN" sz="2400" b="1" dirty="0"/>
          </a:p>
          <a:p>
            <a:endParaRPr lang="en-IN" sz="2400" b="1" dirty="0"/>
          </a:p>
          <a:p>
            <a:endParaRPr lang="en-IN" sz="2400" b="1" dirty="0"/>
          </a:p>
        </p:txBody>
      </p:sp>
      <p:sp>
        <p:nvSpPr>
          <p:cNvPr id="90" name="Rectangle: Rounded Corners 89">
            <a:extLst>
              <a:ext uri="{FF2B5EF4-FFF2-40B4-BE49-F238E27FC236}">
                <a16:creationId xmlns:a16="http://schemas.microsoft.com/office/drawing/2014/main" id="{75736B40-CAA1-4861-1826-F60958E15657}"/>
              </a:ext>
            </a:extLst>
          </p:cNvPr>
          <p:cNvSpPr/>
          <p:nvPr/>
        </p:nvSpPr>
        <p:spPr>
          <a:xfrm>
            <a:off x="706307" y="1130710"/>
            <a:ext cx="2823410" cy="336263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IN" sz="2000" b="1" dirty="0"/>
              <a:t>USER</a:t>
            </a:r>
            <a:br>
              <a:rPr lang="en-US" dirty="0"/>
            </a:br>
            <a:r>
              <a:rPr lang="en-US" dirty="0"/>
              <a:t>_id: </a:t>
            </a:r>
            <a:r>
              <a:rPr lang="en-US" dirty="0" err="1"/>
              <a:t>ObjectId</a:t>
            </a:r>
            <a:r>
              <a:rPr lang="en-US" dirty="0"/>
              <a:t>,</a:t>
            </a:r>
            <a:br>
              <a:rPr lang="en-US" dirty="0"/>
            </a:br>
            <a:r>
              <a:rPr lang="en-US" dirty="0"/>
              <a:t>name: String,</a:t>
            </a:r>
            <a:br>
              <a:rPr lang="en-US" dirty="0"/>
            </a:br>
            <a:r>
              <a:rPr lang="en-US" dirty="0"/>
              <a:t>email: String,</a:t>
            </a:r>
            <a:br>
              <a:rPr lang="en-US" dirty="0"/>
            </a:br>
            <a:r>
              <a:rPr lang="en-US" dirty="0"/>
              <a:t>role: String,</a:t>
            </a:r>
            <a:br>
              <a:rPr lang="en-US" dirty="0"/>
            </a:br>
            <a:r>
              <a:rPr lang="en-US" dirty="0"/>
              <a:t>department: String,</a:t>
            </a:r>
            <a:br>
              <a:rPr lang="en-US" dirty="0"/>
            </a:br>
            <a:r>
              <a:rPr lang="en-US" dirty="0" err="1"/>
              <a:t>isActive</a:t>
            </a:r>
            <a:r>
              <a:rPr lang="en-US" dirty="0"/>
              <a:t>: Boolean,</a:t>
            </a:r>
            <a:br>
              <a:rPr lang="en-US" dirty="0"/>
            </a:br>
            <a:r>
              <a:rPr lang="en-US" dirty="0" err="1"/>
              <a:t>createdAt</a:t>
            </a:r>
            <a:r>
              <a:rPr lang="en-US" dirty="0"/>
              <a:t>: Date,</a:t>
            </a:r>
            <a:br>
              <a:rPr lang="en-US" dirty="0"/>
            </a:br>
            <a:r>
              <a:rPr lang="en-US" dirty="0" err="1"/>
              <a:t>lastLogin</a:t>
            </a:r>
            <a:r>
              <a:rPr lang="en-US" dirty="0"/>
              <a:t>: Date</a:t>
            </a:r>
            <a:br>
              <a:rPr lang="en-US" dirty="0"/>
            </a:br>
            <a:r>
              <a:rPr lang="en-US" dirty="0"/>
              <a:t>}</a:t>
            </a:r>
            <a:endParaRPr lang="en-IN" dirty="0"/>
          </a:p>
        </p:txBody>
      </p:sp>
      <p:sp>
        <p:nvSpPr>
          <p:cNvPr id="91" name="Rectangle: Rounded Corners 90">
            <a:extLst>
              <a:ext uri="{FF2B5EF4-FFF2-40B4-BE49-F238E27FC236}">
                <a16:creationId xmlns:a16="http://schemas.microsoft.com/office/drawing/2014/main" id="{93E99B07-A709-56D6-1CA2-BA96A2781226}"/>
              </a:ext>
            </a:extLst>
          </p:cNvPr>
          <p:cNvSpPr/>
          <p:nvPr/>
        </p:nvSpPr>
        <p:spPr>
          <a:xfrm>
            <a:off x="8662285" y="1082017"/>
            <a:ext cx="2823411" cy="355834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IN" sz="2000" b="1" dirty="0"/>
              <a:t>Challenges</a:t>
            </a:r>
          </a:p>
          <a:p>
            <a:r>
              <a:rPr lang="en-IN" sz="2000" dirty="0"/>
              <a:t>_</a:t>
            </a:r>
            <a:r>
              <a:rPr lang="en-IN" dirty="0"/>
              <a:t>id: </a:t>
            </a:r>
            <a:r>
              <a:rPr lang="en-IN" dirty="0" err="1"/>
              <a:t>ObjectId</a:t>
            </a:r>
            <a:r>
              <a:rPr lang="en-IN" dirty="0"/>
              <a:t>,</a:t>
            </a:r>
            <a:br>
              <a:rPr lang="en-IN" dirty="0"/>
            </a:br>
            <a:r>
              <a:rPr lang="en-IN" dirty="0"/>
              <a:t>title: String,</a:t>
            </a:r>
            <a:br>
              <a:rPr lang="en-IN" dirty="0"/>
            </a:br>
            <a:r>
              <a:rPr lang="en-IN" dirty="0"/>
              <a:t>description: String,</a:t>
            </a:r>
            <a:br>
              <a:rPr lang="en-IN" dirty="0"/>
            </a:br>
            <a:r>
              <a:rPr lang="en-IN" dirty="0" err="1"/>
              <a:t>startDate</a:t>
            </a:r>
            <a:r>
              <a:rPr lang="en-IN" dirty="0"/>
              <a:t>: Date,</a:t>
            </a:r>
            <a:br>
              <a:rPr lang="en-IN" dirty="0"/>
            </a:br>
            <a:r>
              <a:rPr lang="en-IN" dirty="0" err="1"/>
              <a:t>endDate</a:t>
            </a:r>
            <a:r>
              <a:rPr lang="en-IN" dirty="0"/>
              <a:t>: Date,</a:t>
            </a:r>
            <a:br>
              <a:rPr lang="en-IN" dirty="0"/>
            </a:br>
            <a:r>
              <a:rPr lang="en-IN" dirty="0" err="1"/>
              <a:t>createdBy</a:t>
            </a:r>
            <a:r>
              <a:rPr lang="en-IN" dirty="0"/>
              <a:t>: String,</a:t>
            </a:r>
            <a:br>
              <a:rPr lang="en-IN" dirty="0"/>
            </a:br>
            <a:r>
              <a:rPr lang="en-IN" dirty="0"/>
              <a:t>status: String,</a:t>
            </a:r>
            <a:br>
              <a:rPr lang="en-IN" dirty="0"/>
            </a:br>
            <a:r>
              <a:rPr lang="en-IN" dirty="0"/>
              <a:t>tags: String,</a:t>
            </a:r>
            <a:br>
              <a:rPr lang="en-IN" dirty="0"/>
            </a:br>
            <a:r>
              <a:rPr lang="en-IN" dirty="0" err="1"/>
              <a:t>createdat</a:t>
            </a:r>
            <a:r>
              <a:rPr lang="en-IN" dirty="0"/>
              <a:t>: Date,</a:t>
            </a:r>
            <a:br>
              <a:rPr lang="en-IN" dirty="0"/>
            </a:br>
            <a:r>
              <a:rPr lang="en-IN" dirty="0" err="1"/>
              <a:t>updatedAt</a:t>
            </a:r>
            <a:r>
              <a:rPr lang="en-IN" dirty="0"/>
              <a:t>: Date</a:t>
            </a:r>
            <a:endParaRPr lang="en-IN" b="1" dirty="0"/>
          </a:p>
        </p:txBody>
      </p:sp>
      <p:sp>
        <p:nvSpPr>
          <p:cNvPr id="92" name="Rectangle: Rounded Corners 91">
            <a:extLst>
              <a:ext uri="{FF2B5EF4-FFF2-40B4-BE49-F238E27FC236}">
                <a16:creationId xmlns:a16="http://schemas.microsoft.com/office/drawing/2014/main" id="{4D95F679-0F51-F533-9D78-AB16C3AAB415}"/>
              </a:ext>
            </a:extLst>
          </p:cNvPr>
          <p:cNvSpPr/>
          <p:nvPr/>
        </p:nvSpPr>
        <p:spPr>
          <a:xfrm>
            <a:off x="4748907" y="3046394"/>
            <a:ext cx="2547009" cy="372803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IN" sz="2000" b="1" dirty="0"/>
              <a:t>IDEA</a:t>
            </a:r>
          </a:p>
          <a:p>
            <a:r>
              <a:rPr lang="en-IN" sz="1600" dirty="0"/>
              <a:t>_id: </a:t>
            </a:r>
            <a:r>
              <a:rPr lang="en-IN" sz="1600" dirty="0" err="1"/>
              <a:t>ObjectId</a:t>
            </a:r>
            <a:r>
              <a:rPr lang="en-IN" sz="1600" dirty="0"/>
              <a:t>,</a:t>
            </a:r>
            <a:br>
              <a:rPr lang="en-IN" sz="1600" dirty="0"/>
            </a:br>
            <a:r>
              <a:rPr lang="en-IN" sz="1600" dirty="0" err="1"/>
              <a:t>ChallengeId</a:t>
            </a:r>
            <a:r>
              <a:rPr lang="en-IN" sz="1600" dirty="0"/>
              <a:t>: String,</a:t>
            </a:r>
            <a:br>
              <a:rPr lang="en-IN" sz="1600" dirty="0"/>
            </a:br>
            <a:r>
              <a:rPr lang="en-IN" sz="1600" dirty="0"/>
              <a:t>title: String,</a:t>
            </a:r>
            <a:br>
              <a:rPr lang="en-IN" sz="1600" dirty="0"/>
            </a:br>
            <a:r>
              <a:rPr lang="en-IN" sz="1600" dirty="0"/>
              <a:t>solution: String,</a:t>
            </a:r>
            <a:br>
              <a:rPr lang="en-IN" sz="1600" dirty="0"/>
            </a:br>
            <a:r>
              <a:rPr lang="en-IN" sz="1600" dirty="0"/>
              <a:t>filename: String,</a:t>
            </a:r>
            <a:br>
              <a:rPr lang="en-IN" sz="1600" dirty="0"/>
            </a:br>
            <a:r>
              <a:rPr lang="en-IN" sz="1600" dirty="0"/>
              <a:t>path: String,</a:t>
            </a:r>
            <a:br>
              <a:rPr lang="en-IN" sz="1600" dirty="0"/>
            </a:br>
            <a:r>
              <a:rPr lang="en-IN" sz="1600" dirty="0" err="1"/>
              <a:t>submittedBy</a:t>
            </a:r>
            <a:r>
              <a:rPr lang="en-IN" sz="1600" dirty="0"/>
              <a:t>: String,</a:t>
            </a:r>
            <a:br>
              <a:rPr lang="en-IN" sz="1600" dirty="0"/>
            </a:br>
            <a:r>
              <a:rPr lang="en-IN" sz="1600" dirty="0"/>
              <a:t>status: String,</a:t>
            </a:r>
            <a:br>
              <a:rPr lang="en-IN" sz="1600" dirty="0"/>
            </a:br>
            <a:r>
              <a:rPr lang="en-IN" sz="1600" dirty="0"/>
              <a:t>Likes: Number,</a:t>
            </a:r>
            <a:br>
              <a:rPr lang="en-IN" sz="1600" dirty="0"/>
            </a:br>
            <a:r>
              <a:rPr lang="en-IN" sz="1600" dirty="0"/>
              <a:t>feedback: String,</a:t>
            </a:r>
            <a:br>
              <a:rPr lang="en-IN" sz="1600" dirty="0"/>
            </a:br>
            <a:r>
              <a:rPr lang="en-IN" sz="1600" dirty="0"/>
              <a:t>Comment: Array,</a:t>
            </a:r>
            <a:br>
              <a:rPr lang="en-IN" sz="1600" dirty="0"/>
            </a:br>
            <a:r>
              <a:rPr lang="en-IN" sz="1600" dirty="0" err="1"/>
              <a:t>createdByAt</a:t>
            </a:r>
            <a:r>
              <a:rPr lang="en-IN" sz="1600" dirty="0"/>
              <a:t>: Date,</a:t>
            </a:r>
            <a:br>
              <a:rPr lang="en-IN" sz="1600" dirty="0"/>
            </a:br>
            <a:r>
              <a:rPr lang="en-IN" sz="1600" dirty="0" err="1"/>
              <a:t>updatedAt</a:t>
            </a:r>
            <a:r>
              <a:rPr lang="en-IN" sz="1600" dirty="0"/>
              <a:t>: Date</a:t>
            </a:r>
            <a:endParaRPr lang="en-IN" sz="1600" b="1" dirty="0"/>
          </a:p>
        </p:txBody>
      </p:sp>
      <p:sp>
        <p:nvSpPr>
          <p:cNvPr id="93" name="Diamond 92">
            <a:extLst>
              <a:ext uri="{FF2B5EF4-FFF2-40B4-BE49-F238E27FC236}">
                <a16:creationId xmlns:a16="http://schemas.microsoft.com/office/drawing/2014/main" id="{7F77A416-CCA7-ED66-5C54-0B1F03DC2C91}"/>
              </a:ext>
            </a:extLst>
          </p:cNvPr>
          <p:cNvSpPr/>
          <p:nvPr/>
        </p:nvSpPr>
        <p:spPr>
          <a:xfrm>
            <a:off x="4896086" y="1581239"/>
            <a:ext cx="2357085" cy="1209082"/>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Creates</a:t>
            </a:r>
          </a:p>
          <a:p>
            <a:pPr algn="ctr"/>
            <a:r>
              <a:rPr lang="en-IN" sz="1600" dirty="0"/>
              <a:t>(reviewer)</a:t>
            </a:r>
          </a:p>
        </p:txBody>
      </p:sp>
      <p:cxnSp>
        <p:nvCxnSpPr>
          <p:cNvPr id="25" name="Straight Connector 24">
            <a:extLst>
              <a:ext uri="{FF2B5EF4-FFF2-40B4-BE49-F238E27FC236}">
                <a16:creationId xmlns:a16="http://schemas.microsoft.com/office/drawing/2014/main" id="{8D300C38-B57F-00F0-CD72-6DBD8B8D2A11}"/>
              </a:ext>
            </a:extLst>
          </p:cNvPr>
          <p:cNvCxnSpPr>
            <a:cxnSpLocks/>
            <a:stCxn id="93" idx="1"/>
          </p:cNvCxnSpPr>
          <p:nvPr/>
        </p:nvCxnSpPr>
        <p:spPr>
          <a:xfrm flipH="1">
            <a:off x="3583546" y="2185780"/>
            <a:ext cx="1312540" cy="0"/>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26034B1B-6192-6A5E-7344-FCBB6A832B76}"/>
              </a:ext>
            </a:extLst>
          </p:cNvPr>
          <p:cNvCxnSpPr>
            <a:cxnSpLocks/>
            <a:endCxn id="93" idx="3"/>
          </p:cNvCxnSpPr>
          <p:nvPr/>
        </p:nvCxnSpPr>
        <p:spPr>
          <a:xfrm flipH="1">
            <a:off x="7253171" y="2185780"/>
            <a:ext cx="1430219" cy="0"/>
          </a:xfrm>
          <a:prstGeom prst="line">
            <a:avLst/>
          </a:prstGeom>
        </p:spPr>
        <p:style>
          <a:lnRef idx="1">
            <a:schemeClr val="dk1"/>
          </a:lnRef>
          <a:fillRef idx="0">
            <a:schemeClr val="dk1"/>
          </a:fillRef>
          <a:effectRef idx="0">
            <a:schemeClr val="dk1"/>
          </a:effectRef>
          <a:fontRef idx="minor">
            <a:schemeClr val="tx1"/>
          </a:fontRef>
        </p:style>
      </p:cxnSp>
      <p:sp>
        <p:nvSpPr>
          <p:cNvPr id="33" name="Diamond 32">
            <a:extLst>
              <a:ext uri="{FF2B5EF4-FFF2-40B4-BE49-F238E27FC236}">
                <a16:creationId xmlns:a16="http://schemas.microsoft.com/office/drawing/2014/main" id="{A37863F5-93B3-5A6B-EF88-54F46D4CAC75}"/>
              </a:ext>
            </a:extLst>
          </p:cNvPr>
          <p:cNvSpPr/>
          <p:nvPr/>
        </p:nvSpPr>
        <p:spPr>
          <a:xfrm>
            <a:off x="8530696" y="4998095"/>
            <a:ext cx="2357085" cy="1209082"/>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Submit</a:t>
            </a:r>
          </a:p>
          <a:p>
            <a:pPr algn="ctr"/>
            <a:r>
              <a:rPr lang="en-IN" sz="1400" dirty="0"/>
              <a:t>(Employee)</a:t>
            </a:r>
          </a:p>
        </p:txBody>
      </p:sp>
      <p:cxnSp>
        <p:nvCxnSpPr>
          <p:cNvPr id="39" name="Straight Connector 38">
            <a:extLst>
              <a:ext uri="{FF2B5EF4-FFF2-40B4-BE49-F238E27FC236}">
                <a16:creationId xmlns:a16="http://schemas.microsoft.com/office/drawing/2014/main" id="{93F357F1-F749-22C0-CC8B-EF9B31B17738}"/>
              </a:ext>
            </a:extLst>
          </p:cNvPr>
          <p:cNvCxnSpPr>
            <a:cxnSpLocks/>
            <a:stCxn id="33" idx="0"/>
          </p:cNvCxnSpPr>
          <p:nvPr/>
        </p:nvCxnSpPr>
        <p:spPr>
          <a:xfrm flipH="1" flipV="1">
            <a:off x="9709238" y="4640357"/>
            <a:ext cx="1" cy="357738"/>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FD9733A6-3EF0-9FAC-571D-C1F4D60FC41E}"/>
              </a:ext>
            </a:extLst>
          </p:cNvPr>
          <p:cNvCxnSpPr>
            <a:stCxn id="33" idx="1"/>
          </p:cNvCxnSpPr>
          <p:nvPr/>
        </p:nvCxnSpPr>
        <p:spPr>
          <a:xfrm flipH="1">
            <a:off x="7298523" y="5602636"/>
            <a:ext cx="1232173" cy="0"/>
          </a:xfrm>
          <a:prstGeom prst="line">
            <a:avLst/>
          </a:prstGeom>
        </p:spPr>
        <p:style>
          <a:lnRef idx="1">
            <a:schemeClr val="dk1"/>
          </a:lnRef>
          <a:fillRef idx="0">
            <a:schemeClr val="dk1"/>
          </a:fillRef>
          <a:effectRef idx="0">
            <a:schemeClr val="dk1"/>
          </a:effectRef>
          <a:fontRef idx="minor">
            <a:schemeClr val="tx1"/>
          </a:fontRef>
        </p:style>
      </p:cxnSp>
      <p:sp>
        <p:nvSpPr>
          <p:cNvPr id="43" name="Diamond 42">
            <a:extLst>
              <a:ext uri="{FF2B5EF4-FFF2-40B4-BE49-F238E27FC236}">
                <a16:creationId xmlns:a16="http://schemas.microsoft.com/office/drawing/2014/main" id="{7AEA3286-1DDB-EDA9-F39D-DC0100E59279}"/>
              </a:ext>
            </a:extLst>
          </p:cNvPr>
          <p:cNvSpPr/>
          <p:nvPr/>
        </p:nvSpPr>
        <p:spPr>
          <a:xfrm>
            <a:off x="939469" y="4998095"/>
            <a:ext cx="2357085" cy="1209082"/>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t>Approve</a:t>
            </a:r>
          </a:p>
          <a:p>
            <a:pPr algn="ctr"/>
            <a:r>
              <a:rPr lang="en-IN" sz="1400" dirty="0"/>
              <a:t>(Reviewer)</a:t>
            </a:r>
          </a:p>
        </p:txBody>
      </p:sp>
      <p:cxnSp>
        <p:nvCxnSpPr>
          <p:cNvPr id="45" name="Straight Connector 44">
            <a:extLst>
              <a:ext uri="{FF2B5EF4-FFF2-40B4-BE49-F238E27FC236}">
                <a16:creationId xmlns:a16="http://schemas.microsoft.com/office/drawing/2014/main" id="{B65441EE-0A43-94B3-A408-A83564B3177C}"/>
              </a:ext>
            </a:extLst>
          </p:cNvPr>
          <p:cNvCxnSpPr>
            <a:stCxn id="43" idx="0"/>
            <a:endCxn id="90" idx="2"/>
          </p:cNvCxnSpPr>
          <p:nvPr/>
        </p:nvCxnSpPr>
        <p:spPr>
          <a:xfrm flipV="1">
            <a:off x="2118012" y="4493342"/>
            <a:ext cx="0" cy="504753"/>
          </a:xfrm>
          <a:prstGeom prst="line">
            <a:avLst/>
          </a:prstGeom>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2D721C74-0597-B6CB-C85B-79EDCF316457}"/>
              </a:ext>
            </a:extLst>
          </p:cNvPr>
          <p:cNvCxnSpPr>
            <a:cxnSpLocks/>
          </p:cNvCxnSpPr>
          <p:nvPr/>
        </p:nvCxnSpPr>
        <p:spPr>
          <a:xfrm>
            <a:off x="3253994" y="5602636"/>
            <a:ext cx="1494913" cy="0"/>
          </a:xfrm>
          <a:prstGeom prst="line">
            <a:avLst/>
          </a:prstGeom>
        </p:spPr>
        <p:style>
          <a:lnRef idx="1">
            <a:schemeClr val="dk1"/>
          </a:lnRef>
          <a:fillRef idx="0">
            <a:schemeClr val="dk1"/>
          </a:fillRef>
          <a:effectRef idx="0">
            <a:schemeClr val="dk1"/>
          </a:effectRef>
          <a:fontRef idx="minor">
            <a:schemeClr val="tx1"/>
          </a:fontRef>
        </p:style>
      </p:cxnSp>
      <p:sp>
        <p:nvSpPr>
          <p:cNvPr id="50" name="Rectangle: Rounded Corners 49">
            <a:extLst>
              <a:ext uri="{FF2B5EF4-FFF2-40B4-BE49-F238E27FC236}">
                <a16:creationId xmlns:a16="http://schemas.microsoft.com/office/drawing/2014/main" id="{248D45D7-67BF-BA25-52B0-2C0A0B34B33F}"/>
              </a:ext>
            </a:extLst>
          </p:cNvPr>
          <p:cNvSpPr/>
          <p:nvPr/>
        </p:nvSpPr>
        <p:spPr>
          <a:xfrm>
            <a:off x="4960374" y="612544"/>
            <a:ext cx="2271252" cy="56043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Admin</a:t>
            </a:r>
            <a:endParaRPr lang="en-IN" dirty="0"/>
          </a:p>
        </p:txBody>
      </p:sp>
      <p:cxnSp>
        <p:nvCxnSpPr>
          <p:cNvPr id="54" name="Straight Connector 53">
            <a:extLst>
              <a:ext uri="{FF2B5EF4-FFF2-40B4-BE49-F238E27FC236}">
                <a16:creationId xmlns:a16="http://schemas.microsoft.com/office/drawing/2014/main" id="{1396DE49-F6CD-8046-9D07-7E76F3CDED5F}"/>
              </a:ext>
            </a:extLst>
          </p:cNvPr>
          <p:cNvCxnSpPr>
            <a:cxnSpLocks/>
            <a:endCxn id="50" idx="1"/>
          </p:cNvCxnSpPr>
          <p:nvPr/>
        </p:nvCxnSpPr>
        <p:spPr>
          <a:xfrm>
            <a:off x="2118012" y="892764"/>
            <a:ext cx="2842362" cy="0"/>
          </a:xfrm>
          <a:prstGeom prst="line">
            <a:avLst/>
          </a:prstGeom>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20F6A06F-F8F9-F2DE-B57C-1FD2FA5600EC}"/>
              </a:ext>
            </a:extLst>
          </p:cNvPr>
          <p:cNvCxnSpPr>
            <a:cxnSpLocks/>
            <a:endCxn id="90" idx="0"/>
          </p:cNvCxnSpPr>
          <p:nvPr/>
        </p:nvCxnSpPr>
        <p:spPr>
          <a:xfrm>
            <a:off x="2118012" y="892764"/>
            <a:ext cx="0" cy="237946"/>
          </a:xfrm>
          <a:prstGeom prst="line">
            <a:avLst/>
          </a:prstGeom>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A4BB2403-0C7E-16F0-4DCD-EA712481136F}"/>
              </a:ext>
            </a:extLst>
          </p:cNvPr>
          <p:cNvCxnSpPr>
            <a:cxnSpLocks/>
            <a:stCxn id="50" idx="3"/>
          </p:cNvCxnSpPr>
          <p:nvPr/>
        </p:nvCxnSpPr>
        <p:spPr>
          <a:xfrm>
            <a:off x="7231626" y="892764"/>
            <a:ext cx="2811909" cy="0"/>
          </a:xfrm>
          <a:prstGeom prst="line">
            <a:avLst/>
          </a:prstGeom>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E7ED3D98-7F31-5714-A124-2D97B687FE36}"/>
              </a:ext>
            </a:extLst>
          </p:cNvPr>
          <p:cNvCxnSpPr>
            <a:cxnSpLocks/>
          </p:cNvCxnSpPr>
          <p:nvPr/>
        </p:nvCxnSpPr>
        <p:spPr>
          <a:xfrm>
            <a:off x="10043535" y="892764"/>
            <a:ext cx="0" cy="189253"/>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2741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2BA7CD-6EF2-D6D4-E6FE-3550692AFB77}"/>
              </a:ext>
            </a:extLst>
          </p:cNvPr>
          <p:cNvSpPr/>
          <p:nvPr/>
        </p:nvSpPr>
        <p:spPr>
          <a:xfrm>
            <a:off x="76193" y="2707540"/>
            <a:ext cx="1563329" cy="521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Login</a:t>
            </a:r>
          </a:p>
        </p:txBody>
      </p:sp>
      <p:sp>
        <p:nvSpPr>
          <p:cNvPr id="3" name="Diamond 2">
            <a:extLst>
              <a:ext uri="{FF2B5EF4-FFF2-40B4-BE49-F238E27FC236}">
                <a16:creationId xmlns:a16="http://schemas.microsoft.com/office/drawing/2014/main" id="{166D3992-199F-7C78-7EE9-043C31410DDC}"/>
              </a:ext>
            </a:extLst>
          </p:cNvPr>
          <p:cNvSpPr/>
          <p:nvPr/>
        </p:nvSpPr>
        <p:spPr>
          <a:xfrm>
            <a:off x="1995951" y="2367092"/>
            <a:ext cx="2932456" cy="1170039"/>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Employee</a:t>
            </a:r>
          </a:p>
        </p:txBody>
      </p:sp>
      <p:sp>
        <p:nvSpPr>
          <p:cNvPr id="7" name="Rectangle 6">
            <a:extLst>
              <a:ext uri="{FF2B5EF4-FFF2-40B4-BE49-F238E27FC236}">
                <a16:creationId xmlns:a16="http://schemas.microsoft.com/office/drawing/2014/main" id="{90733A91-2E5F-B6B3-0C99-E19409C8C792}"/>
              </a:ext>
            </a:extLst>
          </p:cNvPr>
          <p:cNvSpPr/>
          <p:nvPr/>
        </p:nvSpPr>
        <p:spPr>
          <a:xfrm>
            <a:off x="4719487" y="486678"/>
            <a:ext cx="1563329" cy="521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Challenges</a:t>
            </a:r>
          </a:p>
        </p:txBody>
      </p:sp>
      <p:sp>
        <p:nvSpPr>
          <p:cNvPr id="8" name="Rectangle 7">
            <a:extLst>
              <a:ext uri="{FF2B5EF4-FFF2-40B4-BE49-F238E27FC236}">
                <a16:creationId xmlns:a16="http://schemas.microsoft.com/office/drawing/2014/main" id="{A33E4E54-6FE0-66DC-FC46-8DC9B6CADCF1}"/>
              </a:ext>
            </a:extLst>
          </p:cNvPr>
          <p:cNvSpPr/>
          <p:nvPr/>
        </p:nvSpPr>
        <p:spPr>
          <a:xfrm>
            <a:off x="6754765" y="486678"/>
            <a:ext cx="1563329" cy="521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Dashboard</a:t>
            </a:r>
          </a:p>
        </p:txBody>
      </p:sp>
      <p:sp>
        <p:nvSpPr>
          <p:cNvPr id="9" name="Rectangle 8">
            <a:extLst>
              <a:ext uri="{FF2B5EF4-FFF2-40B4-BE49-F238E27FC236}">
                <a16:creationId xmlns:a16="http://schemas.microsoft.com/office/drawing/2014/main" id="{E62639F4-C232-6F1C-B26A-D5326D1DA9C6}"/>
              </a:ext>
            </a:extLst>
          </p:cNvPr>
          <p:cNvSpPr/>
          <p:nvPr/>
        </p:nvSpPr>
        <p:spPr>
          <a:xfrm>
            <a:off x="5093106" y="2165235"/>
            <a:ext cx="1563329" cy="521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Dashboard</a:t>
            </a:r>
          </a:p>
        </p:txBody>
      </p:sp>
      <p:sp>
        <p:nvSpPr>
          <p:cNvPr id="10" name="Rectangle 9">
            <a:extLst>
              <a:ext uri="{FF2B5EF4-FFF2-40B4-BE49-F238E27FC236}">
                <a16:creationId xmlns:a16="http://schemas.microsoft.com/office/drawing/2014/main" id="{59535D80-FA01-9CA0-CEDC-0DB3F7A65F29}"/>
              </a:ext>
            </a:extLst>
          </p:cNvPr>
          <p:cNvSpPr/>
          <p:nvPr/>
        </p:nvSpPr>
        <p:spPr>
          <a:xfrm>
            <a:off x="997974" y="4868206"/>
            <a:ext cx="1563329" cy="521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Dashboard</a:t>
            </a:r>
          </a:p>
        </p:txBody>
      </p:sp>
      <p:sp>
        <p:nvSpPr>
          <p:cNvPr id="11" name="Rectangle 10">
            <a:extLst>
              <a:ext uri="{FF2B5EF4-FFF2-40B4-BE49-F238E27FC236}">
                <a16:creationId xmlns:a16="http://schemas.microsoft.com/office/drawing/2014/main" id="{49F9CA18-A3AB-58A3-B2C4-FCD709B327D5}"/>
              </a:ext>
            </a:extLst>
          </p:cNvPr>
          <p:cNvSpPr/>
          <p:nvPr/>
        </p:nvSpPr>
        <p:spPr>
          <a:xfrm>
            <a:off x="4928407" y="3193018"/>
            <a:ext cx="2003327" cy="521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Ideas Submitted</a:t>
            </a:r>
          </a:p>
        </p:txBody>
      </p:sp>
      <p:sp>
        <p:nvSpPr>
          <p:cNvPr id="12" name="Rectangle 11">
            <a:extLst>
              <a:ext uri="{FF2B5EF4-FFF2-40B4-BE49-F238E27FC236}">
                <a16:creationId xmlns:a16="http://schemas.microsoft.com/office/drawing/2014/main" id="{3390ACD7-3FC5-41F5-CC26-C882E6A2E7E1}"/>
              </a:ext>
            </a:extLst>
          </p:cNvPr>
          <p:cNvSpPr/>
          <p:nvPr/>
        </p:nvSpPr>
        <p:spPr>
          <a:xfrm>
            <a:off x="997973" y="5834228"/>
            <a:ext cx="1563329" cy="521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Challenges</a:t>
            </a:r>
          </a:p>
        </p:txBody>
      </p:sp>
      <p:sp>
        <p:nvSpPr>
          <p:cNvPr id="13" name="Rectangle 12">
            <a:extLst>
              <a:ext uri="{FF2B5EF4-FFF2-40B4-BE49-F238E27FC236}">
                <a16:creationId xmlns:a16="http://schemas.microsoft.com/office/drawing/2014/main" id="{E9B217F7-4B37-399E-F1F2-AB5FDD6ACB51}"/>
              </a:ext>
            </a:extLst>
          </p:cNvPr>
          <p:cNvSpPr/>
          <p:nvPr/>
        </p:nvSpPr>
        <p:spPr>
          <a:xfrm>
            <a:off x="7811733" y="2169541"/>
            <a:ext cx="1838628" cy="521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Idea Creation</a:t>
            </a:r>
          </a:p>
        </p:txBody>
      </p:sp>
      <p:sp>
        <p:nvSpPr>
          <p:cNvPr id="14" name="Rectangle 13">
            <a:extLst>
              <a:ext uri="{FF2B5EF4-FFF2-40B4-BE49-F238E27FC236}">
                <a16:creationId xmlns:a16="http://schemas.microsoft.com/office/drawing/2014/main" id="{58F593E2-D9BA-7083-BD65-81F3ECC5B878}"/>
              </a:ext>
            </a:extLst>
          </p:cNvPr>
          <p:cNvSpPr/>
          <p:nvPr/>
        </p:nvSpPr>
        <p:spPr>
          <a:xfrm>
            <a:off x="4200516" y="5834228"/>
            <a:ext cx="2406449" cy="521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User Management</a:t>
            </a:r>
          </a:p>
        </p:txBody>
      </p:sp>
      <p:sp>
        <p:nvSpPr>
          <p:cNvPr id="15" name="Rectangle 14">
            <a:extLst>
              <a:ext uri="{FF2B5EF4-FFF2-40B4-BE49-F238E27FC236}">
                <a16:creationId xmlns:a16="http://schemas.microsoft.com/office/drawing/2014/main" id="{0D69560F-1BEB-D8CB-242B-0500B0B8CC9F}"/>
              </a:ext>
            </a:extLst>
          </p:cNvPr>
          <p:cNvSpPr/>
          <p:nvPr/>
        </p:nvSpPr>
        <p:spPr>
          <a:xfrm>
            <a:off x="7811732" y="3168445"/>
            <a:ext cx="2003323" cy="521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Approved Ideas</a:t>
            </a:r>
          </a:p>
        </p:txBody>
      </p:sp>
      <p:sp>
        <p:nvSpPr>
          <p:cNvPr id="16" name="Rectangle 15">
            <a:extLst>
              <a:ext uri="{FF2B5EF4-FFF2-40B4-BE49-F238E27FC236}">
                <a16:creationId xmlns:a16="http://schemas.microsoft.com/office/drawing/2014/main" id="{6775561A-4593-6458-ED99-8EF0E3AAD281}"/>
              </a:ext>
            </a:extLst>
          </p:cNvPr>
          <p:cNvSpPr/>
          <p:nvPr/>
        </p:nvSpPr>
        <p:spPr>
          <a:xfrm>
            <a:off x="4471215" y="4868206"/>
            <a:ext cx="1563329" cy="521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Ideas</a:t>
            </a:r>
          </a:p>
        </p:txBody>
      </p:sp>
      <p:sp>
        <p:nvSpPr>
          <p:cNvPr id="19" name="Oval 18">
            <a:extLst>
              <a:ext uri="{FF2B5EF4-FFF2-40B4-BE49-F238E27FC236}">
                <a16:creationId xmlns:a16="http://schemas.microsoft.com/office/drawing/2014/main" id="{2D736143-566C-4675-B779-0774C855F610}"/>
              </a:ext>
            </a:extLst>
          </p:cNvPr>
          <p:cNvSpPr/>
          <p:nvPr/>
        </p:nvSpPr>
        <p:spPr>
          <a:xfrm>
            <a:off x="2588332" y="1298979"/>
            <a:ext cx="1747694" cy="70546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Reviewer</a:t>
            </a:r>
          </a:p>
        </p:txBody>
      </p:sp>
      <p:sp>
        <p:nvSpPr>
          <p:cNvPr id="20" name="Oval 19">
            <a:extLst>
              <a:ext uri="{FF2B5EF4-FFF2-40B4-BE49-F238E27FC236}">
                <a16:creationId xmlns:a16="http://schemas.microsoft.com/office/drawing/2014/main" id="{FC188862-226A-7EB1-B8BD-61F5910D9AD6}"/>
              </a:ext>
            </a:extLst>
          </p:cNvPr>
          <p:cNvSpPr/>
          <p:nvPr/>
        </p:nvSpPr>
        <p:spPr>
          <a:xfrm>
            <a:off x="2810790" y="3948809"/>
            <a:ext cx="1302777" cy="70546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Admin</a:t>
            </a:r>
          </a:p>
        </p:txBody>
      </p:sp>
      <p:cxnSp>
        <p:nvCxnSpPr>
          <p:cNvPr id="22" name="Connector: Elbow 21">
            <a:extLst>
              <a:ext uri="{FF2B5EF4-FFF2-40B4-BE49-F238E27FC236}">
                <a16:creationId xmlns:a16="http://schemas.microsoft.com/office/drawing/2014/main" id="{B6C7B15D-7006-98AF-0C30-91C9AB27FD0B}"/>
              </a:ext>
            </a:extLst>
          </p:cNvPr>
          <p:cNvCxnSpPr>
            <a:cxnSpLocks/>
            <a:stCxn id="8" idx="2"/>
            <a:endCxn id="19" idx="6"/>
          </p:cNvCxnSpPr>
          <p:nvPr/>
        </p:nvCxnSpPr>
        <p:spPr>
          <a:xfrm rot="5400000">
            <a:off x="5614266" y="-270452"/>
            <a:ext cx="643925" cy="3200404"/>
          </a:xfrm>
          <a:prstGeom prst="bentConnector2">
            <a:avLst/>
          </a:prstGeom>
        </p:spPr>
        <p:style>
          <a:lnRef idx="1">
            <a:schemeClr val="dk1"/>
          </a:lnRef>
          <a:fillRef idx="0">
            <a:schemeClr val="dk1"/>
          </a:fillRef>
          <a:effectRef idx="0">
            <a:schemeClr val="dk1"/>
          </a:effectRef>
          <a:fontRef idx="minor">
            <a:schemeClr val="tx1"/>
          </a:fontRef>
        </p:style>
      </p:cxnSp>
      <p:cxnSp>
        <p:nvCxnSpPr>
          <p:cNvPr id="24" name="Connector: Elbow 23">
            <a:extLst>
              <a:ext uri="{FF2B5EF4-FFF2-40B4-BE49-F238E27FC236}">
                <a16:creationId xmlns:a16="http://schemas.microsoft.com/office/drawing/2014/main" id="{43031E3B-E205-4728-AA1E-C05CF5350DD5}"/>
              </a:ext>
            </a:extLst>
          </p:cNvPr>
          <p:cNvCxnSpPr>
            <a:cxnSpLocks/>
            <a:stCxn id="7" idx="2"/>
            <a:endCxn id="19" idx="6"/>
          </p:cNvCxnSpPr>
          <p:nvPr/>
        </p:nvCxnSpPr>
        <p:spPr>
          <a:xfrm rot="5400000">
            <a:off x="4596627" y="747187"/>
            <a:ext cx="643925" cy="1165126"/>
          </a:xfrm>
          <a:prstGeom prst="bentConnector2">
            <a:avLst/>
          </a:prstGeom>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55CE09C1-C21B-7A0A-FA9F-38E35024603D}"/>
              </a:ext>
            </a:extLst>
          </p:cNvPr>
          <p:cNvCxnSpPr>
            <a:cxnSpLocks/>
            <a:stCxn id="3" idx="0"/>
            <a:endCxn id="19" idx="4"/>
          </p:cNvCxnSpPr>
          <p:nvPr/>
        </p:nvCxnSpPr>
        <p:spPr>
          <a:xfrm flipV="1">
            <a:off x="3462179" y="2004446"/>
            <a:ext cx="0" cy="362646"/>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6270E378-F8EC-8AFD-3A86-AFCAC8F6D13D}"/>
              </a:ext>
            </a:extLst>
          </p:cNvPr>
          <p:cNvCxnSpPr>
            <a:cxnSpLocks/>
            <a:stCxn id="3" idx="1"/>
            <a:endCxn id="2" idx="3"/>
          </p:cNvCxnSpPr>
          <p:nvPr/>
        </p:nvCxnSpPr>
        <p:spPr>
          <a:xfrm flipH="1">
            <a:off x="1639522" y="2952112"/>
            <a:ext cx="356429" cy="15983"/>
          </a:xfrm>
          <a:prstGeom prst="line">
            <a:avLst/>
          </a:prstGeom>
        </p:spPr>
        <p:style>
          <a:lnRef idx="1">
            <a:schemeClr val="dk1"/>
          </a:lnRef>
          <a:fillRef idx="0">
            <a:schemeClr val="dk1"/>
          </a:fillRef>
          <a:effectRef idx="0">
            <a:schemeClr val="dk1"/>
          </a:effectRef>
          <a:fontRef idx="minor">
            <a:schemeClr val="tx1"/>
          </a:fontRef>
        </p:style>
      </p:cxnSp>
      <p:cxnSp>
        <p:nvCxnSpPr>
          <p:cNvPr id="37" name="Connector: Elbow 36">
            <a:extLst>
              <a:ext uri="{FF2B5EF4-FFF2-40B4-BE49-F238E27FC236}">
                <a16:creationId xmlns:a16="http://schemas.microsoft.com/office/drawing/2014/main" id="{C8161F6C-CB7A-B8B4-65FA-C74D0985DF0A}"/>
              </a:ext>
            </a:extLst>
          </p:cNvPr>
          <p:cNvCxnSpPr>
            <a:cxnSpLocks/>
            <a:stCxn id="9" idx="2"/>
          </p:cNvCxnSpPr>
          <p:nvPr/>
        </p:nvCxnSpPr>
        <p:spPr>
          <a:xfrm rot="5400000">
            <a:off x="5271313" y="2347745"/>
            <a:ext cx="264858" cy="942059"/>
          </a:xfrm>
          <a:prstGeom prst="bentConnector2">
            <a:avLst/>
          </a:prstGeom>
        </p:spPr>
        <p:style>
          <a:lnRef idx="1">
            <a:schemeClr val="dk1"/>
          </a:lnRef>
          <a:fillRef idx="0">
            <a:schemeClr val="dk1"/>
          </a:fillRef>
          <a:effectRef idx="0">
            <a:schemeClr val="dk1"/>
          </a:effectRef>
          <a:fontRef idx="minor">
            <a:schemeClr val="tx1"/>
          </a:fontRef>
        </p:style>
      </p:cxnSp>
      <p:cxnSp>
        <p:nvCxnSpPr>
          <p:cNvPr id="39" name="Connector: Elbow 38">
            <a:extLst>
              <a:ext uri="{FF2B5EF4-FFF2-40B4-BE49-F238E27FC236}">
                <a16:creationId xmlns:a16="http://schemas.microsoft.com/office/drawing/2014/main" id="{DB9DE910-EA6F-83C8-B39D-EC293AD17F94}"/>
              </a:ext>
            </a:extLst>
          </p:cNvPr>
          <p:cNvCxnSpPr>
            <a:cxnSpLocks/>
          </p:cNvCxnSpPr>
          <p:nvPr/>
        </p:nvCxnSpPr>
        <p:spPr>
          <a:xfrm rot="16200000" flipV="1">
            <a:off x="7076145" y="1602021"/>
            <a:ext cx="183124" cy="2915273"/>
          </a:xfrm>
          <a:prstGeom prst="bentConnector2">
            <a:avLst/>
          </a:prstGeom>
        </p:spPr>
        <p:style>
          <a:lnRef idx="1">
            <a:schemeClr val="dk1"/>
          </a:lnRef>
          <a:fillRef idx="0">
            <a:schemeClr val="dk1"/>
          </a:fillRef>
          <a:effectRef idx="0">
            <a:schemeClr val="dk1"/>
          </a:effectRef>
          <a:fontRef idx="minor">
            <a:schemeClr val="tx1"/>
          </a:fontRef>
        </p:style>
      </p:cxnSp>
      <p:cxnSp>
        <p:nvCxnSpPr>
          <p:cNvPr id="41" name="Connector: Elbow 40">
            <a:extLst>
              <a:ext uri="{FF2B5EF4-FFF2-40B4-BE49-F238E27FC236}">
                <a16:creationId xmlns:a16="http://schemas.microsoft.com/office/drawing/2014/main" id="{BEEC398B-F913-98AB-FA73-E65DF7C5672F}"/>
              </a:ext>
            </a:extLst>
          </p:cNvPr>
          <p:cNvCxnSpPr>
            <a:cxnSpLocks/>
          </p:cNvCxnSpPr>
          <p:nvPr/>
        </p:nvCxnSpPr>
        <p:spPr>
          <a:xfrm rot="16200000" flipV="1">
            <a:off x="5307877" y="2592931"/>
            <a:ext cx="191729" cy="942060"/>
          </a:xfrm>
          <a:prstGeom prst="bentConnector2">
            <a:avLst/>
          </a:prstGeom>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EF309403-EA3D-F943-4283-579470001DA8}"/>
              </a:ext>
            </a:extLst>
          </p:cNvPr>
          <p:cNvCxnSpPr>
            <a:cxnSpLocks/>
            <a:stCxn id="20" idx="0"/>
            <a:endCxn id="3" idx="2"/>
          </p:cNvCxnSpPr>
          <p:nvPr/>
        </p:nvCxnSpPr>
        <p:spPr>
          <a:xfrm flipV="1">
            <a:off x="3462179" y="3537131"/>
            <a:ext cx="0" cy="411678"/>
          </a:xfrm>
          <a:prstGeom prst="line">
            <a:avLst/>
          </a:prstGeom>
        </p:spPr>
        <p:style>
          <a:lnRef idx="1">
            <a:schemeClr val="dk1"/>
          </a:lnRef>
          <a:fillRef idx="0">
            <a:schemeClr val="dk1"/>
          </a:fillRef>
          <a:effectRef idx="0">
            <a:schemeClr val="dk1"/>
          </a:effectRef>
          <a:fontRef idx="minor">
            <a:schemeClr val="tx1"/>
          </a:fontRef>
        </p:style>
      </p:cxnSp>
      <p:cxnSp>
        <p:nvCxnSpPr>
          <p:cNvPr id="48" name="Connector: Elbow 47">
            <a:extLst>
              <a:ext uri="{FF2B5EF4-FFF2-40B4-BE49-F238E27FC236}">
                <a16:creationId xmlns:a16="http://schemas.microsoft.com/office/drawing/2014/main" id="{CE9EA7B0-B102-07E7-4FC5-0A24927854B6}"/>
              </a:ext>
            </a:extLst>
          </p:cNvPr>
          <p:cNvCxnSpPr>
            <a:stCxn id="10" idx="3"/>
            <a:endCxn id="20" idx="4"/>
          </p:cNvCxnSpPr>
          <p:nvPr/>
        </p:nvCxnSpPr>
        <p:spPr>
          <a:xfrm flipV="1">
            <a:off x="2561303" y="4654276"/>
            <a:ext cx="900876" cy="474485"/>
          </a:xfrm>
          <a:prstGeom prst="bentConnector2">
            <a:avLst/>
          </a:prstGeom>
        </p:spPr>
        <p:style>
          <a:lnRef idx="1">
            <a:schemeClr val="dk1"/>
          </a:lnRef>
          <a:fillRef idx="0">
            <a:schemeClr val="dk1"/>
          </a:fillRef>
          <a:effectRef idx="0">
            <a:schemeClr val="dk1"/>
          </a:effectRef>
          <a:fontRef idx="minor">
            <a:schemeClr val="tx1"/>
          </a:fontRef>
        </p:style>
      </p:cxnSp>
      <p:cxnSp>
        <p:nvCxnSpPr>
          <p:cNvPr id="50" name="Connector: Elbow 49">
            <a:extLst>
              <a:ext uri="{FF2B5EF4-FFF2-40B4-BE49-F238E27FC236}">
                <a16:creationId xmlns:a16="http://schemas.microsoft.com/office/drawing/2014/main" id="{EFFEA75B-A68B-B598-B77D-8BA2434E59A7}"/>
              </a:ext>
            </a:extLst>
          </p:cNvPr>
          <p:cNvCxnSpPr>
            <a:stCxn id="16" idx="1"/>
            <a:endCxn id="20" idx="4"/>
          </p:cNvCxnSpPr>
          <p:nvPr/>
        </p:nvCxnSpPr>
        <p:spPr>
          <a:xfrm rot="10800000">
            <a:off x="3462179" y="4654277"/>
            <a:ext cx="1009036" cy="474485"/>
          </a:xfrm>
          <a:prstGeom prst="bentConnector2">
            <a:avLst/>
          </a:prstGeom>
        </p:spPr>
        <p:style>
          <a:lnRef idx="1">
            <a:schemeClr val="dk1"/>
          </a:lnRef>
          <a:fillRef idx="0">
            <a:schemeClr val="dk1"/>
          </a:fillRef>
          <a:effectRef idx="0">
            <a:schemeClr val="dk1"/>
          </a:effectRef>
          <a:fontRef idx="minor">
            <a:schemeClr val="tx1"/>
          </a:fontRef>
        </p:style>
      </p:cxnSp>
      <p:cxnSp>
        <p:nvCxnSpPr>
          <p:cNvPr id="52" name="Connector: Elbow 51">
            <a:extLst>
              <a:ext uri="{FF2B5EF4-FFF2-40B4-BE49-F238E27FC236}">
                <a16:creationId xmlns:a16="http://schemas.microsoft.com/office/drawing/2014/main" id="{FA5F8968-F725-DF3A-207F-E2E76A0CA35D}"/>
              </a:ext>
            </a:extLst>
          </p:cNvPr>
          <p:cNvCxnSpPr>
            <a:cxnSpLocks/>
            <a:stCxn id="12" idx="3"/>
            <a:endCxn id="20" idx="4"/>
          </p:cNvCxnSpPr>
          <p:nvPr/>
        </p:nvCxnSpPr>
        <p:spPr>
          <a:xfrm flipV="1">
            <a:off x="2561302" y="4654276"/>
            <a:ext cx="900877" cy="1440507"/>
          </a:xfrm>
          <a:prstGeom prst="bentConnector2">
            <a:avLst/>
          </a:prstGeom>
        </p:spPr>
        <p:style>
          <a:lnRef idx="1">
            <a:schemeClr val="dk1"/>
          </a:lnRef>
          <a:fillRef idx="0">
            <a:schemeClr val="dk1"/>
          </a:fillRef>
          <a:effectRef idx="0">
            <a:schemeClr val="dk1"/>
          </a:effectRef>
          <a:fontRef idx="minor">
            <a:schemeClr val="tx1"/>
          </a:fontRef>
        </p:style>
      </p:cxnSp>
      <p:cxnSp>
        <p:nvCxnSpPr>
          <p:cNvPr id="54" name="Connector: Elbow 53">
            <a:extLst>
              <a:ext uri="{FF2B5EF4-FFF2-40B4-BE49-F238E27FC236}">
                <a16:creationId xmlns:a16="http://schemas.microsoft.com/office/drawing/2014/main" id="{E25CC363-2281-9BB9-D687-DE5C69FF21CF}"/>
              </a:ext>
            </a:extLst>
          </p:cNvPr>
          <p:cNvCxnSpPr>
            <a:cxnSpLocks/>
            <a:stCxn id="14" idx="1"/>
            <a:endCxn id="20" idx="4"/>
          </p:cNvCxnSpPr>
          <p:nvPr/>
        </p:nvCxnSpPr>
        <p:spPr>
          <a:xfrm rot="10800000">
            <a:off x="3462180" y="4654277"/>
            <a:ext cx="738337" cy="1440507"/>
          </a:xfrm>
          <a:prstGeom prst="bentConnector2">
            <a:avLst/>
          </a:prstGeom>
        </p:spPr>
        <p:style>
          <a:lnRef idx="1">
            <a:schemeClr val="dk1"/>
          </a:lnRef>
          <a:fillRef idx="0">
            <a:schemeClr val="dk1"/>
          </a:fillRef>
          <a:effectRef idx="0">
            <a:schemeClr val="dk1"/>
          </a:effectRef>
          <a:fontRef idx="minor">
            <a:schemeClr val="tx1"/>
          </a:fontRef>
        </p:style>
      </p:cxnSp>
      <p:sp>
        <p:nvSpPr>
          <p:cNvPr id="79" name="TextBox 78">
            <a:extLst>
              <a:ext uri="{FF2B5EF4-FFF2-40B4-BE49-F238E27FC236}">
                <a16:creationId xmlns:a16="http://schemas.microsoft.com/office/drawing/2014/main" id="{4D7C24BA-B3D4-F1B7-7192-12EBBD9C8958}"/>
              </a:ext>
            </a:extLst>
          </p:cNvPr>
          <p:cNvSpPr txBox="1"/>
          <p:nvPr/>
        </p:nvSpPr>
        <p:spPr>
          <a:xfrm>
            <a:off x="258090" y="243460"/>
            <a:ext cx="2762865" cy="461665"/>
          </a:xfrm>
          <a:prstGeom prst="rect">
            <a:avLst/>
          </a:prstGeom>
          <a:noFill/>
        </p:spPr>
        <p:txBody>
          <a:bodyPr wrap="square" rtlCol="0">
            <a:spAutoFit/>
          </a:bodyPr>
          <a:lstStyle/>
          <a:p>
            <a:r>
              <a:rPr lang="en-IN" sz="2400" b="1" dirty="0"/>
              <a:t>WORK FLOW</a:t>
            </a:r>
          </a:p>
        </p:txBody>
      </p:sp>
      <p:sp>
        <p:nvSpPr>
          <p:cNvPr id="86" name="Rectangle 85">
            <a:extLst>
              <a:ext uri="{FF2B5EF4-FFF2-40B4-BE49-F238E27FC236}">
                <a16:creationId xmlns:a16="http://schemas.microsoft.com/office/drawing/2014/main" id="{60A94592-74F9-3F65-F958-102319E3D8CB}"/>
              </a:ext>
            </a:extLst>
          </p:cNvPr>
          <p:cNvSpPr/>
          <p:nvPr/>
        </p:nvSpPr>
        <p:spPr>
          <a:xfrm>
            <a:off x="8622891" y="486678"/>
            <a:ext cx="1730482" cy="5211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Approve/</a:t>
            </a:r>
          </a:p>
          <a:p>
            <a:pPr algn="ctr"/>
            <a:r>
              <a:rPr lang="en-IN" dirty="0"/>
              <a:t>Reject Ideas</a:t>
            </a:r>
          </a:p>
        </p:txBody>
      </p:sp>
      <p:cxnSp>
        <p:nvCxnSpPr>
          <p:cNvPr id="88" name="Straight Connector 87">
            <a:extLst>
              <a:ext uri="{FF2B5EF4-FFF2-40B4-BE49-F238E27FC236}">
                <a16:creationId xmlns:a16="http://schemas.microsoft.com/office/drawing/2014/main" id="{D3157967-1B85-A033-9E3D-630E7ACF5345}"/>
              </a:ext>
            </a:extLst>
          </p:cNvPr>
          <p:cNvCxnSpPr/>
          <p:nvPr/>
        </p:nvCxnSpPr>
        <p:spPr>
          <a:xfrm>
            <a:off x="7536431" y="1651713"/>
            <a:ext cx="1838632" cy="0"/>
          </a:xfrm>
          <a:prstGeom prst="line">
            <a:avLst/>
          </a:prstGeom>
        </p:spPr>
        <p:style>
          <a:lnRef idx="1">
            <a:schemeClr val="dk1"/>
          </a:lnRef>
          <a:fillRef idx="0">
            <a:schemeClr val="dk1"/>
          </a:fillRef>
          <a:effectRef idx="0">
            <a:schemeClr val="dk1"/>
          </a:effectRef>
          <a:fontRef idx="minor">
            <a:schemeClr val="tx1"/>
          </a:fontRef>
        </p:style>
      </p:cxnSp>
      <p:cxnSp>
        <p:nvCxnSpPr>
          <p:cNvPr id="90" name="Straight Connector 89">
            <a:extLst>
              <a:ext uri="{FF2B5EF4-FFF2-40B4-BE49-F238E27FC236}">
                <a16:creationId xmlns:a16="http://schemas.microsoft.com/office/drawing/2014/main" id="{A7B6C8D5-8D6D-7423-63CC-0963486794A6}"/>
              </a:ext>
            </a:extLst>
          </p:cNvPr>
          <p:cNvCxnSpPr/>
          <p:nvPr/>
        </p:nvCxnSpPr>
        <p:spPr>
          <a:xfrm flipV="1">
            <a:off x="9375063" y="1007787"/>
            <a:ext cx="0" cy="643926"/>
          </a:xfrm>
          <a:prstGeom prst="line">
            <a:avLst/>
          </a:prstGeom>
        </p:spPr>
        <p:style>
          <a:lnRef idx="1">
            <a:schemeClr val="dk1"/>
          </a:lnRef>
          <a:fillRef idx="0">
            <a:schemeClr val="dk1"/>
          </a:fillRef>
          <a:effectRef idx="0">
            <a:schemeClr val="dk1"/>
          </a:effectRef>
          <a:fontRef idx="minor">
            <a:schemeClr val="tx1"/>
          </a:fontRef>
        </p:style>
      </p:cxnSp>
      <p:cxnSp>
        <p:nvCxnSpPr>
          <p:cNvPr id="143" name="Straight Connector 142">
            <a:extLst>
              <a:ext uri="{FF2B5EF4-FFF2-40B4-BE49-F238E27FC236}">
                <a16:creationId xmlns:a16="http://schemas.microsoft.com/office/drawing/2014/main" id="{BC0982D9-F4BF-16FF-8045-58B042EFBB45}"/>
              </a:ext>
            </a:extLst>
          </p:cNvPr>
          <p:cNvCxnSpPr>
            <a:cxnSpLocks/>
          </p:cNvCxnSpPr>
          <p:nvPr/>
        </p:nvCxnSpPr>
        <p:spPr>
          <a:xfrm>
            <a:off x="5874770" y="2951204"/>
            <a:ext cx="2748121" cy="0"/>
          </a:xfrm>
          <a:prstGeom prst="line">
            <a:avLst/>
          </a:prstGeom>
        </p:spPr>
        <p:style>
          <a:lnRef idx="1">
            <a:schemeClr val="dk1"/>
          </a:lnRef>
          <a:fillRef idx="0">
            <a:schemeClr val="dk1"/>
          </a:fillRef>
          <a:effectRef idx="0">
            <a:schemeClr val="dk1"/>
          </a:effectRef>
          <a:fontRef idx="minor">
            <a:schemeClr val="tx1"/>
          </a:fontRef>
        </p:style>
      </p:cxnSp>
      <p:cxnSp>
        <p:nvCxnSpPr>
          <p:cNvPr id="148" name="Straight Connector 147">
            <a:extLst>
              <a:ext uri="{FF2B5EF4-FFF2-40B4-BE49-F238E27FC236}">
                <a16:creationId xmlns:a16="http://schemas.microsoft.com/office/drawing/2014/main" id="{D2550A0C-AC80-D55C-40C3-6A8739CBB682}"/>
              </a:ext>
            </a:extLst>
          </p:cNvPr>
          <p:cNvCxnSpPr>
            <a:cxnSpLocks/>
          </p:cNvCxnSpPr>
          <p:nvPr/>
        </p:nvCxnSpPr>
        <p:spPr>
          <a:xfrm flipV="1">
            <a:off x="8622891" y="2686345"/>
            <a:ext cx="0" cy="264859"/>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43819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2F4676-FF07-0C84-FD29-2E7803C796CC}"/>
              </a:ext>
            </a:extLst>
          </p:cNvPr>
          <p:cNvSpPr txBox="1"/>
          <p:nvPr/>
        </p:nvSpPr>
        <p:spPr>
          <a:xfrm>
            <a:off x="737417" y="895821"/>
            <a:ext cx="4709652" cy="461665"/>
          </a:xfrm>
          <a:prstGeom prst="rect">
            <a:avLst/>
          </a:prstGeom>
          <a:noFill/>
        </p:spPr>
        <p:txBody>
          <a:bodyPr wrap="square" rtlCol="0">
            <a:spAutoFit/>
          </a:bodyPr>
          <a:lstStyle/>
          <a:p>
            <a:r>
              <a:rPr lang="en-IN" sz="2000" b="1" dirty="0"/>
              <a:t>Limitations</a:t>
            </a:r>
            <a:r>
              <a:rPr lang="en-IN" sz="2400" b="1" dirty="0"/>
              <a:t> of Existing Projects </a:t>
            </a:r>
            <a:r>
              <a:rPr lang="en-IN" b="1" dirty="0"/>
              <a:t>:</a:t>
            </a:r>
            <a:endParaRPr lang="en-IN" dirty="0"/>
          </a:p>
        </p:txBody>
      </p:sp>
      <p:sp>
        <p:nvSpPr>
          <p:cNvPr id="4" name="TextBox 3">
            <a:extLst>
              <a:ext uri="{FF2B5EF4-FFF2-40B4-BE49-F238E27FC236}">
                <a16:creationId xmlns:a16="http://schemas.microsoft.com/office/drawing/2014/main" id="{BC55530F-F81A-523F-3B47-2F0C3712A726}"/>
              </a:ext>
            </a:extLst>
          </p:cNvPr>
          <p:cNvSpPr txBox="1"/>
          <p:nvPr/>
        </p:nvSpPr>
        <p:spPr>
          <a:xfrm>
            <a:off x="1720644" y="1397675"/>
            <a:ext cx="8357420" cy="2031325"/>
          </a:xfrm>
          <a:prstGeom prst="rect">
            <a:avLst/>
          </a:prstGeom>
          <a:noFill/>
        </p:spPr>
        <p:txBody>
          <a:bodyPr wrap="square" rtlCol="0">
            <a:spAutoFit/>
          </a:bodyPr>
          <a:lstStyle/>
          <a:p>
            <a:pPr marL="285750" indent="-285750">
              <a:buFont typeface="Wingdings" panose="05000000000000000000" pitchFamily="2" charset="2"/>
              <a:buChar char="Ø"/>
            </a:pPr>
            <a:r>
              <a:rPr lang="en-IN" b="1" dirty="0"/>
              <a:t>Ideas for Random Problems</a:t>
            </a:r>
            <a:r>
              <a:rPr lang="en-IN" dirty="0"/>
              <a:t>: </a:t>
            </a:r>
            <a:r>
              <a:rPr lang="en-US" dirty="0">
                <a:latin typeface="+mj-lt"/>
              </a:rPr>
              <a:t>Most platforms allow users to submit ideas for </a:t>
            </a:r>
            <a:r>
              <a:rPr lang="en-US" i="1" dirty="0">
                <a:latin typeface="+mj-lt"/>
              </a:rPr>
              <a:t>any topic</a:t>
            </a:r>
            <a:r>
              <a:rPr lang="en-US" dirty="0">
                <a:latin typeface="+mj-lt"/>
              </a:rPr>
              <a:t>.</a:t>
            </a:r>
          </a:p>
          <a:p>
            <a:endParaRPr lang="en-US" dirty="0">
              <a:latin typeface="+mj-lt"/>
            </a:endParaRPr>
          </a:p>
          <a:p>
            <a:pPr marL="285750" indent="-285750">
              <a:buFont typeface="Wingdings" panose="05000000000000000000" pitchFamily="2" charset="2"/>
              <a:buChar char="Ø"/>
            </a:pPr>
            <a:r>
              <a:rPr lang="en-IN" b="1" dirty="0"/>
              <a:t>Complex User Interface</a:t>
            </a:r>
            <a:r>
              <a:rPr lang="en-IN" dirty="0"/>
              <a:t>: </a:t>
            </a:r>
            <a:r>
              <a:rPr lang="en-US" dirty="0"/>
              <a:t>Many systems are cluttered with too many features.</a:t>
            </a:r>
          </a:p>
          <a:p>
            <a:endParaRPr lang="en-US" dirty="0"/>
          </a:p>
          <a:p>
            <a:pPr marL="285750" indent="-285750">
              <a:buFont typeface="Wingdings" panose="05000000000000000000" pitchFamily="2" charset="2"/>
              <a:buChar char="Ø"/>
            </a:pPr>
            <a:r>
              <a:rPr lang="en-US" b="1" dirty="0"/>
              <a:t>Not Specific to the Company: </a:t>
            </a:r>
            <a:r>
              <a:rPr lang="en-IN" dirty="0"/>
              <a:t>Existing platforms are generic.</a:t>
            </a:r>
            <a:endParaRPr lang="en-IN" b="1" dirty="0">
              <a:latin typeface="+mj-lt"/>
            </a:endParaRPr>
          </a:p>
        </p:txBody>
      </p:sp>
      <p:sp>
        <p:nvSpPr>
          <p:cNvPr id="5" name="TextBox 4">
            <a:extLst>
              <a:ext uri="{FF2B5EF4-FFF2-40B4-BE49-F238E27FC236}">
                <a16:creationId xmlns:a16="http://schemas.microsoft.com/office/drawing/2014/main" id="{9E4F65D2-DC6C-157E-E764-E3CB28DC7F0D}"/>
              </a:ext>
            </a:extLst>
          </p:cNvPr>
          <p:cNvSpPr txBox="1"/>
          <p:nvPr/>
        </p:nvSpPr>
        <p:spPr>
          <a:xfrm>
            <a:off x="737417" y="3449093"/>
            <a:ext cx="4345860" cy="461665"/>
          </a:xfrm>
          <a:prstGeom prst="rect">
            <a:avLst/>
          </a:prstGeom>
          <a:noFill/>
        </p:spPr>
        <p:txBody>
          <a:bodyPr wrap="square" rtlCol="0">
            <a:spAutoFit/>
          </a:bodyPr>
          <a:lstStyle/>
          <a:p>
            <a:r>
              <a:rPr lang="en-IN" sz="2400" b="1" dirty="0">
                <a:latin typeface="+mj-lt"/>
              </a:rPr>
              <a:t>Uniqueness of </a:t>
            </a:r>
            <a:r>
              <a:rPr lang="en-IN" sz="2000" b="1" i="1" dirty="0">
                <a:latin typeface="+mj-lt"/>
              </a:rPr>
              <a:t>My</a:t>
            </a:r>
            <a:r>
              <a:rPr lang="en-IN" sz="2400" b="1" i="1" dirty="0">
                <a:latin typeface="+mj-lt"/>
              </a:rPr>
              <a:t> Project:</a:t>
            </a:r>
            <a:endParaRPr lang="en-IN" sz="2400" b="1" dirty="0">
              <a:latin typeface="+mj-lt"/>
            </a:endParaRPr>
          </a:p>
        </p:txBody>
      </p:sp>
      <p:sp>
        <p:nvSpPr>
          <p:cNvPr id="6" name="TextBox 5">
            <a:extLst>
              <a:ext uri="{FF2B5EF4-FFF2-40B4-BE49-F238E27FC236}">
                <a16:creationId xmlns:a16="http://schemas.microsoft.com/office/drawing/2014/main" id="{02ADB8D2-40F1-D840-0122-8C83294C6BAB}"/>
              </a:ext>
            </a:extLst>
          </p:cNvPr>
          <p:cNvSpPr txBox="1"/>
          <p:nvPr/>
        </p:nvSpPr>
        <p:spPr>
          <a:xfrm>
            <a:off x="1720644" y="3971040"/>
            <a:ext cx="8839200" cy="2031325"/>
          </a:xfrm>
          <a:prstGeom prst="rect">
            <a:avLst/>
          </a:prstGeom>
          <a:noFill/>
        </p:spPr>
        <p:txBody>
          <a:bodyPr wrap="square" rtlCol="0">
            <a:spAutoFit/>
          </a:bodyPr>
          <a:lstStyle/>
          <a:p>
            <a:pPr marL="285750" indent="-285750">
              <a:buFont typeface="Wingdings" panose="05000000000000000000" pitchFamily="2" charset="2"/>
              <a:buChar char="Ø"/>
            </a:pPr>
            <a:r>
              <a:rPr lang="en-IN" b="1" dirty="0"/>
              <a:t>Simple User Interface: </a:t>
            </a:r>
            <a:r>
              <a:rPr lang="en-US" dirty="0"/>
              <a:t>Easy to submit ideas and view challenges</a:t>
            </a:r>
          </a:p>
          <a:p>
            <a:endParaRPr lang="en-US" dirty="0"/>
          </a:p>
          <a:p>
            <a:pPr marL="285750" indent="-285750">
              <a:buFont typeface="Wingdings" panose="05000000000000000000" pitchFamily="2" charset="2"/>
              <a:buChar char="Ø"/>
            </a:pPr>
            <a:r>
              <a:rPr lang="en-US" b="1" dirty="0"/>
              <a:t>Ideas Mapped to Specific Problems: </a:t>
            </a:r>
            <a:r>
              <a:rPr lang="en-US" dirty="0"/>
              <a:t>Users submit ideas only for </a:t>
            </a:r>
            <a:r>
              <a:rPr lang="en-US" i="1" dirty="0"/>
              <a:t>pre-defined challenges.</a:t>
            </a:r>
          </a:p>
          <a:p>
            <a:endParaRPr lang="en-US" i="1" dirty="0"/>
          </a:p>
          <a:p>
            <a:pPr marL="285750" indent="-285750">
              <a:buFont typeface="Wingdings" panose="05000000000000000000" pitchFamily="2" charset="2"/>
              <a:buChar char="Ø"/>
            </a:pPr>
            <a:r>
              <a:rPr lang="en-IN" b="1" dirty="0"/>
              <a:t>Role-Based Authorization: </a:t>
            </a:r>
            <a:r>
              <a:rPr lang="en-US" dirty="0"/>
              <a:t>Different roles with different permissions like admin , employee , reviewer.</a:t>
            </a:r>
            <a:endParaRPr lang="en-IN" b="1" dirty="0"/>
          </a:p>
        </p:txBody>
      </p:sp>
    </p:spTree>
    <p:extLst>
      <p:ext uri="{BB962C8B-B14F-4D97-AF65-F5344CB8AC3E}">
        <p14:creationId xmlns:p14="http://schemas.microsoft.com/office/powerpoint/2010/main" val="4120989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BDB945-66A0-A581-B6F6-C5E39C75B5BA}"/>
              </a:ext>
            </a:extLst>
          </p:cNvPr>
          <p:cNvPicPr>
            <a:picLocks noChangeAspect="1"/>
          </p:cNvPicPr>
          <p:nvPr/>
        </p:nvPicPr>
        <p:blipFill>
          <a:blip r:embed="rId2"/>
          <a:stretch>
            <a:fillRect/>
          </a:stretch>
        </p:blipFill>
        <p:spPr>
          <a:xfrm>
            <a:off x="634181" y="1002891"/>
            <a:ext cx="10923638" cy="5636654"/>
          </a:xfrm>
          <a:prstGeom prst="rect">
            <a:avLst/>
          </a:prstGeom>
        </p:spPr>
      </p:pic>
      <p:sp>
        <p:nvSpPr>
          <p:cNvPr id="7" name="TextBox 6">
            <a:extLst>
              <a:ext uri="{FF2B5EF4-FFF2-40B4-BE49-F238E27FC236}">
                <a16:creationId xmlns:a16="http://schemas.microsoft.com/office/drawing/2014/main" id="{E5D9D1BD-45A4-3CC9-DC80-295E0B7674D0}"/>
              </a:ext>
            </a:extLst>
          </p:cNvPr>
          <p:cNvSpPr txBox="1"/>
          <p:nvPr/>
        </p:nvSpPr>
        <p:spPr>
          <a:xfrm>
            <a:off x="304800" y="297114"/>
            <a:ext cx="3500284" cy="461665"/>
          </a:xfrm>
          <a:prstGeom prst="rect">
            <a:avLst/>
          </a:prstGeom>
          <a:noFill/>
        </p:spPr>
        <p:txBody>
          <a:bodyPr wrap="square">
            <a:spAutoFit/>
          </a:bodyPr>
          <a:lstStyle/>
          <a:p>
            <a:r>
              <a:rPr lang="en-US" sz="2400" b="1" dirty="0"/>
              <a:t>G</a:t>
            </a:r>
            <a:r>
              <a:rPr lang="en-IN" sz="2400" b="1" dirty="0" err="1"/>
              <a:t>ithub</a:t>
            </a:r>
            <a:r>
              <a:rPr lang="en-IN" sz="2400" b="1" dirty="0"/>
              <a:t> Repository:</a:t>
            </a:r>
          </a:p>
        </p:txBody>
      </p:sp>
    </p:spTree>
    <p:extLst>
      <p:ext uri="{BB962C8B-B14F-4D97-AF65-F5344CB8AC3E}">
        <p14:creationId xmlns:p14="http://schemas.microsoft.com/office/powerpoint/2010/main" val="1690792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5552CB-9930-1AE5-3A57-5A351B49DC5E}"/>
              </a:ext>
            </a:extLst>
          </p:cNvPr>
          <p:cNvSpPr txBox="1"/>
          <p:nvPr/>
        </p:nvSpPr>
        <p:spPr>
          <a:xfrm>
            <a:off x="422787" y="294968"/>
            <a:ext cx="4876800" cy="523220"/>
          </a:xfrm>
          <a:prstGeom prst="rect">
            <a:avLst/>
          </a:prstGeom>
          <a:noFill/>
        </p:spPr>
        <p:txBody>
          <a:bodyPr wrap="square" rtlCol="0">
            <a:spAutoFit/>
          </a:bodyPr>
          <a:lstStyle/>
          <a:p>
            <a:r>
              <a:rPr lang="en-IN" sz="2800" b="1" dirty="0"/>
              <a:t>File Structure </a:t>
            </a:r>
            <a:r>
              <a:rPr lang="en-IN" sz="2800" dirty="0"/>
              <a:t>: Frontend</a:t>
            </a:r>
          </a:p>
        </p:txBody>
      </p:sp>
      <p:pic>
        <p:nvPicPr>
          <p:cNvPr id="4" name="Picture 3">
            <a:extLst>
              <a:ext uri="{FF2B5EF4-FFF2-40B4-BE49-F238E27FC236}">
                <a16:creationId xmlns:a16="http://schemas.microsoft.com/office/drawing/2014/main" id="{09756417-42BF-67FF-C6F1-3C1F9A63EC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110" y="997798"/>
            <a:ext cx="11139948" cy="5565234"/>
          </a:xfrm>
          <a:prstGeom prst="rect">
            <a:avLst/>
          </a:prstGeom>
        </p:spPr>
      </p:pic>
    </p:spTree>
    <p:extLst>
      <p:ext uri="{BB962C8B-B14F-4D97-AF65-F5344CB8AC3E}">
        <p14:creationId xmlns:p14="http://schemas.microsoft.com/office/powerpoint/2010/main" val="2110219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D06640-B588-D998-082D-26DB0969D195}"/>
              </a:ext>
            </a:extLst>
          </p:cNvPr>
          <p:cNvSpPr txBox="1"/>
          <p:nvPr/>
        </p:nvSpPr>
        <p:spPr>
          <a:xfrm>
            <a:off x="265471" y="78658"/>
            <a:ext cx="4876800" cy="523220"/>
          </a:xfrm>
          <a:prstGeom prst="rect">
            <a:avLst/>
          </a:prstGeom>
          <a:noFill/>
        </p:spPr>
        <p:txBody>
          <a:bodyPr wrap="square" rtlCol="0">
            <a:spAutoFit/>
          </a:bodyPr>
          <a:lstStyle/>
          <a:p>
            <a:r>
              <a:rPr lang="en-IN" sz="2800" b="1" dirty="0"/>
              <a:t>File Structure </a:t>
            </a:r>
            <a:r>
              <a:rPr lang="en-IN" sz="2800" dirty="0"/>
              <a:t>: Backend</a:t>
            </a:r>
          </a:p>
        </p:txBody>
      </p:sp>
      <p:pic>
        <p:nvPicPr>
          <p:cNvPr id="6" name="Picture 5">
            <a:extLst>
              <a:ext uri="{FF2B5EF4-FFF2-40B4-BE49-F238E27FC236}">
                <a16:creationId xmlns:a16="http://schemas.microsoft.com/office/drawing/2014/main" id="{F0166026-FC76-4621-0419-9E1096C9692D}"/>
              </a:ext>
            </a:extLst>
          </p:cNvPr>
          <p:cNvPicPr>
            <a:picLocks noChangeAspect="1"/>
          </p:cNvPicPr>
          <p:nvPr/>
        </p:nvPicPr>
        <p:blipFill>
          <a:blip r:embed="rId2"/>
          <a:stretch>
            <a:fillRect/>
          </a:stretch>
        </p:blipFill>
        <p:spPr>
          <a:xfrm>
            <a:off x="363794" y="1789471"/>
            <a:ext cx="7059562" cy="4680155"/>
          </a:xfrm>
          <a:prstGeom prst="rect">
            <a:avLst/>
          </a:prstGeom>
        </p:spPr>
      </p:pic>
      <p:sp>
        <p:nvSpPr>
          <p:cNvPr id="7" name="TextBox 6">
            <a:extLst>
              <a:ext uri="{FF2B5EF4-FFF2-40B4-BE49-F238E27FC236}">
                <a16:creationId xmlns:a16="http://schemas.microsoft.com/office/drawing/2014/main" id="{BC406D08-062F-A66D-4944-34A3F05C8D13}"/>
              </a:ext>
            </a:extLst>
          </p:cNvPr>
          <p:cNvSpPr txBox="1"/>
          <p:nvPr/>
        </p:nvSpPr>
        <p:spPr>
          <a:xfrm>
            <a:off x="363793" y="1150375"/>
            <a:ext cx="1612491" cy="523220"/>
          </a:xfrm>
          <a:prstGeom prst="rect">
            <a:avLst/>
          </a:prstGeom>
          <a:noFill/>
        </p:spPr>
        <p:txBody>
          <a:bodyPr wrap="square" rtlCol="0">
            <a:spAutoFit/>
          </a:bodyPr>
          <a:lstStyle/>
          <a:p>
            <a:r>
              <a:rPr lang="en-IN" sz="2800" b="1" dirty="0"/>
              <a:t>Server :</a:t>
            </a:r>
          </a:p>
        </p:txBody>
      </p:sp>
      <p:pic>
        <p:nvPicPr>
          <p:cNvPr id="9" name="Picture 8">
            <a:extLst>
              <a:ext uri="{FF2B5EF4-FFF2-40B4-BE49-F238E27FC236}">
                <a16:creationId xmlns:a16="http://schemas.microsoft.com/office/drawing/2014/main" id="{20CAC6BB-56AA-8B19-78D2-D4DE39B22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15340" y="1789471"/>
            <a:ext cx="4012866" cy="3472719"/>
          </a:xfrm>
          <a:prstGeom prst="rect">
            <a:avLst/>
          </a:prstGeom>
        </p:spPr>
      </p:pic>
      <p:sp>
        <p:nvSpPr>
          <p:cNvPr id="10" name="TextBox 9">
            <a:extLst>
              <a:ext uri="{FF2B5EF4-FFF2-40B4-BE49-F238E27FC236}">
                <a16:creationId xmlns:a16="http://schemas.microsoft.com/office/drawing/2014/main" id="{703BB533-306A-02A2-67D2-8003B08A6157}"/>
              </a:ext>
            </a:extLst>
          </p:cNvPr>
          <p:cNvSpPr txBox="1"/>
          <p:nvPr/>
        </p:nvSpPr>
        <p:spPr>
          <a:xfrm>
            <a:off x="7815340" y="1150375"/>
            <a:ext cx="3737563" cy="523220"/>
          </a:xfrm>
          <a:prstGeom prst="rect">
            <a:avLst/>
          </a:prstGeom>
          <a:noFill/>
        </p:spPr>
        <p:txBody>
          <a:bodyPr wrap="square" rtlCol="0">
            <a:spAutoFit/>
          </a:bodyPr>
          <a:lstStyle/>
          <a:p>
            <a:r>
              <a:rPr lang="en-IN" sz="2800" b="1" dirty="0"/>
              <a:t>MongoDB Schema:</a:t>
            </a:r>
          </a:p>
        </p:txBody>
      </p:sp>
    </p:spTree>
    <p:extLst>
      <p:ext uri="{BB962C8B-B14F-4D97-AF65-F5344CB8AC3E}">
        <p14:creationId xmlns:p14="http://schemas.microsoft.com/office/powerpoint/2010/main" val="2957815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A3116F0-618A-6D8F-9A0F-9910D205C188}"/>
              </a:ext>
            </a:extLst>
          </p:cNvPr>
          <p:cNvSpPr txBox="1">
            <a:spLocks/>
          </p:cNvSpPr>
          <p:nvPr/>
        </p:nvSpPr>
        <p:spPr>
          <a:xfrm>
            <a:off x="2101285" y="2728735"/>
            <a:ext cx="9404723" cy="140053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a:p>
        </p:txBody>
      </p:sp>
      <p:sp>
        <p:nvSpPr>
          <p:cNvPr id="4" name="TextBox 3">
            <a:extLst>
              <a:ext uri="{FF2B5EF4-FFF2-40B4-BE49-F238E27FC236}">
                <a16:creationId xmlns:a16="http://schemas.microsoft.com/office/drawing/2014/main" id="{33888DC9-EAFE-D59E-0863-1C8F70E452F2}"/>
              </a:ext>
            </a:extLst>
          </p:cNvPr>
          <p:cNvSpPr txBox="1"/>
          <p:nvPr/>
        </p:nvSpPr>
        <p:spPr>
          <a:xfrm>
            <a:off x="4050890" y="2728735"/>
            <a:ext cx="4090219" cy="1015663"/>
          </a:xfrm>
          <a:prstGeom prst="rect">
            <a:avLst/>
          </a:prstGeom>
          <a:noFill/>
        </p:spPr>
        <p:txBody>
          <a:bodyPr wrap="square" rtlCol="0">
            <a:spAutoFit/>
          </a:bodyPr>
          <a:lstStyle/>
          <a:p>
            <a:r>
              <a:rPr lang="en-IN" sz="6000" b="1" dirty="0">
                <a:latin typeface="Lucida Sans" panose="020B0602030504020204" pitchFamily="34" charset="0"/>
              </a:rPr>
              <a:t>Thankyou</a:t>
            </a:r>
          </a:p>
        </p:txBody>
      </p:sp>
    </p:spTree>
    <p:extLst>
      <p:ext uri="{BB962C8B-B14F-4D97-AF65-F5344CB8AC3E}">
        <p14:creationId xmlns:p14="http://schemas.microsoft.com/office/powerpoint/2010/main" val="26106005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TM02836342[[fn=Ion]]</Template>
  <TotalTime>1034</TotalTime>
  <Words>681</Words>
  <Application>Microsoft Office PowerPoint</Application>
  <PresentationFormat>Widescreen</PresentationFormat>
  <Paragraphs>91</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Century</vt:lpstr>
      <vt:lpstr>Century Gothic</vt:lpstr>
      <vt:lpstr>Lucida Sans</vt:lpstr>
      <vt:lpstr>Wingdings</vt:lpstr>
      <vt:lpstr>Wingdings 3</vt:lpstr>
      <vt:lpstr>Ion</vt:lpstr>
      <vt:lpstr>INNOVATION MANAGEMENT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ARULSANKARAN N</dc:creator>
  <cp:lastModifiedBy>Ram unique</cp:lastModifiedBy>
  <cp:revision>12</cp:revision>
  <dcterms:created xsi:type="dcterms:W3CDTF">2026-02-11T03:59:07Z</dcterms:created>
  <dcterms:modified xsi:type="dcterms:W3CDTF">2026-02-14T05:16:17Z</dcterms:modified>
</cp:coreProperties>
</file>